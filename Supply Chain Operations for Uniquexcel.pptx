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charts/chart10.xml" ContentType="application/vnd.openxmlformats-officedocument.drawingml.chart+xml"/>
  <Override PartName="/ppt/charts/style8.xml" ContentType="application/vnd.ms-office.chartstyle+xml"/>
  <Override PartName="/ppt/charts/colors8.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59" r:id="rId6"/>
    <p:sldId id="260" r:id="rId7"/>
    <p:sldId id="261" r:id="rId8"/>
    <p:sldId id="264" r:id="rId9"/>
    <p:sldId id="265" r:id="rId10"/>
    <p:sldId id="263" r:id="rId11"/>
    <p:sldId id="262"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56C6E-A5D4-4111-A754-B3C402903907}" v="51" dt="2026-10-17T00:34:45.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101" d="100"/>
          <a:sy n="101" d="100"/>
        </p:scale>
        <p:origin x="138" y="6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mitope Somoye" userId="6ec92e6dbaf9f852" providerId="LiveId" clId="{EA9324A1-4BD6-4E3F-AE1E-4546BA8B57FB}"/>
    <pc:docChg chg="undo custSel addSld modSld sldOrd">
      <pc:chgData name="Temitope Somoye" userId="6ec92e6dbaf9f852" providerId="LiveId" clId="{EA9324A1-4BD6-4E3F-AE1E-4546BA8B57FB}" dt="2026-10-17T00:36:02.556" v="216" actId="1076"/>
      <pc:docMkLst>
        <pc:docMk/>
      </pc:docMkLst>
      <pc:sldChg chg="modSp mod">
        <pc:chgData name="Temitope Somoye" userId="6ec92e6dbaf9f852" providerId="LiveId" clId="{EA9324A1-4BD6-4E3F-AE1E-4546BA8B57FB}" dt="2026-10-17T00:07:38.805" v="46"/>
        <pc:sldMkLst>
          <pc:docMk/>
          <pc:sldMk cId="2915367520" sldId="258"/>
        </pc:sldMkLst>
        <pc:graphicFrameChg chg="mod modGraphic">
          <ac:chgData name="Temitope Somoye" userId="6ec92e6dbaf9f852" providerId="LiveId" clId="{EA9324A1-4BD6-4E3F-AE1E-4546BA8B57FB}" dt="2026-10-17T00:07:38.805" v="46"/>
          <ac:graphicFrameMkLst>
            <pc:docMk/>
            <pc:sldMk cId="2915367520" sldId="258"/>
            <ac:graphicFrameMk id="8" creationId="{44D21B25-61AE-4737-8DB7-9286465A86A3}"/>
          </ac:graphicFrameMkLst>
        </pc:graphicFrameChg>
      </pc:sldChg>
      <pc:sldChg chg="ord">
        <pc:chgData name="Temitope Somoye" userId="6ec92e6dbaf9f852" providerId="LiveId" clId="{EA9324A1-4BD6-4E3F-AE1E-4546BA8B57FB}" dt="2026-10-17T00:09:51.717" v="48"/>
        <pc:sldMkLst>
          <pc:docMk/>
          <pc:sldMk cId="1307074298" sldId="263"/>
        </pc:sldMkLst>
      </pc:sldChg>
      <pc:sldChg chg="addSp delSp modSp new mod setBg">
        <pc:chgData name="Temitope Somoye" userId="6ec92e6dbaf9f852" providerId="LiveId" clId="{EA9324A1-4BD6-4E3F-AE1E-4546BA8B57FB}" dt="2026-10-17T00:36:02.556" v="216" actId="1076"/>
        <pc:sldMkLst>
          <pc:docMk/>
          <pc:sldMk cId="3900753545" sldId="267"/>
        </pc:sldMkLst>
        <pc:spChg chg="mod">
          <ac:chgData name="Temitope Somoye" userId="6ec92e6dbaf9f852" providerId="LiveId" clId="{EA9324A1-4BD6-4E3F-AE1E-4546BA8B57FB}" dt="2026-10-17T00:23:46.287" v="139" actId="13926"/>
          <ac:spMkLst>
            <pc:docMk/>
            <pc:sldMk cId="3900753545" sldId="267"/>
            <ac:spMk id="2" creationId="{F5AF1105-BF4D-A65E-B908-C88E6EB9A1F1}"/>
          </ac:spMkLst>
        </pc:spChg>
        <pc:spChg chg="add del mod">
          <ac:chgData name="Temitope Somoye" userId="6ec92e6dbaf9f852" providerId="LiveId" clId="{EA9324A1-4BD6-4E3F-AE1E-4546BA8B57FB}" dt="2026-10-17T00:18:00.160" v="96"/>
          <ac:spMkLst>
            <pc:docMk/>
            <pc:sldMk cId="3900753545" sldId="267"/>
            <ac:spMk id="3" creationId="{0B0FD557-2DD5-C1AB-7E24-E08253D38DCE}"/>
          </ac:spMkLst>
        </pc:spChg>
        <pc:spChg chg="add del">
          <ac:chgData name="Temitope Somoye" userId="6ec92e6dbaf9f852" providerId="LiveId" clId="{EA9324A1-4BD6-4E3F-AE1E-4546BA8B57FB}" dt="2026-10-17T00:16:07.093" v="79" actId="26606"/>
          <ac:spMkLst>
            <pc:docMk/>
            <pc:sldMk cId="3900753545" sldId="267"/>
            <ac:spMk id="6" creationId="{BACC6370-2D7E-4714-9D71-7542949D7D5D}"/>
          </ac:spMkLst>
        </pc:spChg>
        <pc:spChg chg="add del">
          <ac:chgData name="Temitope Somoye" userId="6ec92e6dbaf9f852" providerId="LiveId" clId="{EA9324A1-4BD6-4E3F-AE1E-4546BA8B57FB}" dt="2026-10-17T00:16:07.093" v="79" actId="26606"/>
          <ac:spMkLst>
            <pc:docMk/>
            <pc:sldMk cId="3900753545" sldId="267"/>
            <ac:spMk id="7" creationId="{256B2C21-A230-48C0-8DF1-C46611373C44}"/>
          </ac:spMkLst>
        </pc:spChg>
        <pc:spChg chg="add mod">
          <ac:chgData name="Temitope Somoye" userId="6ec92e6dbaf9f852" providerId="LiveId" clId="{EA9324A1-4BD6-4E3F-AE1E-4546BA8B57FB}" dt="2026-10-17T00:17:30.398" v="90"/>
          <ac:spMkLst>
            <pc:docMk/>
            <pc:sldMk cId="3900753545" sldId="267"/>
            <ac:spMk id="8" creationId="{C7439E53-6DFF-B350-E419-F769D697BA00}"/>
          </ac:spMkLst>
        </pc:spChg>
        <pc:spChg chg="add del">
          <ac:chgData name="Temitope Somoye" userId="6ec92e6dbaf9f852" providerId="LiveId" clId="{EA9324A1-4BD6-4E3F-AE1E-4546BA8B57FB}" dt="2026-10-17T00:15:55.889" v="77" actId="26606"/>
          <ac:spMkLst>
            <pc:docMk/>
            <pc:sldMk cId="3900753545" sldId="267"/>
            <ac:spMk id="9" creationId="{C05CBC3C-2E5A-4839-8B9B-2E5A6ADF0F58}"/>
          </ac:spMkLst>
        </pc:spChg>
        <pc:spChg chg="add del">
          <ac:chgData name="Temitope Somoye" userId="6ec92e6dbaf9f852" providerId="LiveId" clId="{EA9324A1-4BD6-4E3F-AE1E-4546BA8B57FB}" dt="2026-10-17T00:15:55.889" v="77" actId="26606"/>
          <ac:spMkLst>
            <pc:docMk/>
            <pc:sldMk cId="3900753545" sldId="267"/>
            <ac:spMk id="11" creationId="{DB5B423A-57CC-4C58-AA26-8E2E862B03A0}"/>
          </ac:spMkLst>
        </pc:spChg>
        <pc:spChg chg="add del">
          <ac:chgData name="Temitope Somoye" userId="6ec92e6dbaf9f852" providerId="LiveId" clId="{EA9324A1-4BD6-4E3F-AE1E-4546BA8B57FB}" dt="2026-10-17T00:16:07.093" v="79" actId="26606"/>
          <ac:spMkLst>
            <pc:docMk/>
            <pc:sldMk cId="3900753545" sldId="267"/>
            <ac:spMk id="13" creationId="{3847E18C-932D-4C95-AABA-FEC7C9499AD7}"/>
          </ac:spMkLst>
        </pc:spChg>
        <pc:spChg chg="add del">
          <ac:chgData name="Temitope Somoye" userId="6ec92e6dbaf9f852" providerId="LiveId" clId="{EA9324A1-4BD6-4E3F-AE1E-4546BA8B57FB}" dt="2026-10-17T00:16:07.093" v="79" actId="26606"/>
          <ac:spMkLst>
            <pc:docMk/>
            <pc:sldMk cId="3900753545" sldId="267"/>
            <ac:spMk id="15" creationId="{3150CB11-0C61-439E-910F-5787759E72A0}"/>
          </ac:spMkLst>
        </pc:spChg>
        <pc:spChg chg="add del mod">
          <ac:chgData name="Temitope Somoye" userId="6ec92e6dbaf9f852" providerId="LiveId" clId="{EA9324A1-4BD6-4E3F-AE1E-4546BA8B57FB}" dt="2026-10-17T00:26:58.787" v="158"/>
          <ac:spMkLst>
            <pc:docMk/>
            <pc:sldMk cId="3900753545" sldId="267"/>
            <ac:spMk id="16" creationId="{815A9DD6-C540-2BA2-E606-A19492D2891F}"/>
          </ac:spMkLst>
        </pc:spChg>
        <pc:spChg chg="add del">
          <ac:chgData name="Temitope Somoye" userId="6ec92e6dbaf9f852" providerId="LiveId" clId="{EA9324A1-4BD6-4E3F-AE1E-4546BA8B57FB}" dt="2026-10-17T00:16:07.093" v="79" actId="26606"/>
          <ac:spMkLst>
            <pc:docMk/>
            <pc:sldMk cId="3900753545" sldId="267"/>
            <ac:spMk id="17" creationId="{43F8A58B-5155-44CE-A5FF-7647B47D0A7A}"/>
          </ac:spMkLst>
        </pc:spChg>
        <pc:spChg chg="add mod">
          <ac:chgData name="Temitope Somoye" userId="6ec92e6dbaf9f852" providerId="LiveId" clId="{EA9324A1-4BD6-4E3F-AE1E-4546BA8B57FB}" dt="2026-10-17T00:33:16.274" v="189" actId="1076"/>
          <ac:spMkLst>
            <pc:docMk/>
            <pc:sldMk cId="3900753545" sldId="267"/>
            <ac:spMk id="18" creationId="{3C886231-FF21-44A0-4496-DD34F5D1DBCB}"/>
          </ac:spMkLst>
        </pc:spChg>
        <pc:spChg chg="add del">
          <ac:chgData name="Temitope Somoye" userId="6ec92e6dbaf9f852" providerId="LiveId" clId="{EA9324A1-4BD6-4E3F-AE1E-4546BA8B57FB}" dt="2026-10-17T00:16:07.093" v="79" actId="26606"/>
          <ac:spMkLst>
            <pc:docMk/>
            <pc:sldMk cId="3900753545" sldId="267"/>
            <ac:spMk id="19" creationId="{443F2ACA-E6D6-4028-82DD-F03C262D5DE6}"/>
          </ac:spMkLst>
        </pc:spChg>
        <pc:spChg chg="add mod">
          <ac:chgData name="Temitope Somoye" userId="6ec92e6dbaf9f852" providerId="LiveId" clId="{EA9324A1-4BD6-4E3F-AE1E-4546BA8B57FB}" dt="2026-10-17T00:33:08.598" v="188" actId="1076"/>
          <ac:spMkLst>
            <pc:docMk/>
            <pc:sldMk cId="3900753545" sldId="267"/>
            <ac:spMk id="20" creationId="{A81C35B0-4F25-E674-61BC-55AB62B98AB4}"/>
          </ac:spMkLst>
        </pc:spChg>
        <pc:spChg chg="add mod">
          <ac:chgData name="Temitope Somoye" userId="6ec92e6dbaf9f852" providerId="LiveId" clId="{EA9324A1-4BD6-4E3F-AE1E-4546BA8B57FB}" dt="2026-10-17T00:34:26.403" v="202" actId="1076"/>
          <ac:spMkLst>
            <pc:docMk/>
            <pc:sldMk cId="3900753545" sldId="267"/>
            <ac:spMk id="21" creationId="{222CC3C9-20FA-F476-8396-DDE6DB1C6CF8}"/>
          </ac:spMkLst>
        </pc:spChg>
        <pc:spChg chg="add mod">
          <ac:chgData name="Temitope Somoye" userId="6ec92e6dbaf9f852" providerId="LiveId" clId="{EA9324A1-4BD6-4E3F-AE1E-4546BA8B57FB}" dt="2026-10-17T00:36:02.556" v="216" actId="1076"/>
          <ac:spMkLst>
            <pc:docMk/>
            <pc:sldMk cId="3900753545" sldId="267"/>
            <ac:spMk id="22" creationId="{514C991C-A335-5E44-3445-8AD7870DA3E7}"/>
          </ac:spMkLst>
        </pc:spChg>
        <pc:graphicFrameChg chg="add mod">
          <ac:chgData name="Temitope Somoye" userId="6ec92e6dbaf9f852" providerId="LiveId" clId="{EA9324A1-4BD6-4E3F-AE1E-4546BA8B57FB}" dt="2026-10-17T00:16:19.738" v="83"/>
          <ac:graphicFrameMkLst>
            <pc:docMk/>
            <pc:sldMk cId="3900753545" sldId="267"/>
            <ac:graphicFrameMk id="4" creationId="{7C6CD59F-3DA3-4941-B3BA-E89A81452261}"/>
          </ac:graphicFrameMkLst>
        </pc:graphicFrameChg>
        <pc:graphicFrameChg chg="add mod">
          <ac:chgData name="Temitope Somoye" userId="6ec92e6dbaf9f852" providerId="LiveId" clId="{EA9324A1-4BD6-4E3F-AE1E-4546BA8B57FB}" dt="2026-10-17T00:31:19.337" v="174" actId="14100"/>
          <ac:graphicFrameMkLst>
            <pc:docMk/>
            <pc:sldMk cId="3900753545" sldId="267"/>
            <ac:graphicFrameMk id="5" creationId="{7C6CD59F-3DA3-4941-B3BA-E89A81452261}"/>
          </ac:graphicFrameMkLst>
        </pc:graphicFrameChg>
        <pc:graphicFrameChg chg="add mod">
          <ac:chgData name="Temitope Somoye" userId="6ec92e6dbaf9f852" providerId="LiveId" clId="{EA9324A1-4BD6-4E3F-AE1E-4546BA8B57FB}" dt="2026-10-17T00:32:45.955" v="185" actId="14100"/>
          <ac:graphicFrameMkLst>
            <pc:docMk/>
            <pc:sldMk cId="3900753545" sldId="267"/>
            <ac:graphicFrameMk id="10" creationId="{7C3F848B-D818-4BC5-A5DF-80CCF3C35F66}"/>
          </ac:graphicFrameMkLst>
        </pc:graphicFrameChg>
        <pc:graphicFrameChg chg="add mod">
          <ac:chgData name="Temitope Somoye" userId="6ec92e6dbaf9f852" providerId="LiveId" clId="{EA9324A1-4BD6-4E3F-AE1E-4546BA8B57FB}" dt="2026-10-17T00:25:41.795" v="149"/>
          <ac:graphicFrameMkLst>
            <pc:docMk/>
            <pc:sldMk cId="3900753545" sldId="267"/>
            <ac:graphicFrameMk id="12" creationId="{F34BC104-B149-4C82-BECB-B1AC325EF6A5}"/>
          </ac:graphicFrameMkLst>
        </pc:graphicFrameChg>
        <pc:graphicFrameChg chg="add mod">
          <ac:chgData name="Temitope Somoye" userId="6ec92e6dbaf9f852" providerId="LiveId" clId="{EA9324A1-4BD6-4E3F-AE1E-4546BA8B57FB}" dt="2026-10-17T00:35:42.393" v="215" actId="14100"/>
          <ac:graphicFrameMkLst>
            <pc:docMk/>
            <pc:sldMk cId="3900753545" sldId="267"/>
            <ac:graphicFrameMk id="14" creationId="{484BD490-1AEA-4FE2-8B1C-A4B7AFEF5D23}"/>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6ec92e6dbaf9f852/Desktop/Tee's%20Data%20Analysis%20Workbook/Supply%20Chain/Supply-Chain-Dirty-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6ec92e6dbaf9f852/Desktop/Tee's%20Data%20Analysis%20Workbook/Supply%20Chain/Supply-Chain-Dirty-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https://d.docs.live.net/6ec92e6dbaf9f852/Desktop/Tee's%20Data%20Analysis%20Workbook/Supply%20Chain/Supply-Chain-Dirty-Dataset.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6ec92e6dbaf9f852/Desktop/Tee's%20Data%20Analysis%20Workbook/Supply%20Chain/Supply-Chain-Dirty-Dataset.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6ec92e6dbaf9f852/Desktop/Tee's%20Data%20Analysis%20Workbook/Supply%20Chain/Supply-Chain-Dirty-Dataset.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6ec92e6dbaf9f852/Desktop/Tee's%20Data%20Analysis%20Workbook/Supply%20Chain/Supply-Chain-Dirty-Dataset.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1" Type="http://schemas.openxmlformats.org/officeDocument/2006/relationships/oleObject" Target="https://d.docs.live.net/6ec92e6dbaf9f852/Desktop/Tee's%20Data%20Analysis%20Workbook/Supply%20Chain/Supply-Chain-Dirty-Dataset.xlsx" TargetMode="Externa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6ec92e6dbaf9f852/Desktop/Tee's%20Data%20Analysis%20Workbook/Supply%20Chain/Supply-Chain-Dirty-Dataset.xlsx" TargetMode="External"/><Relationship Id="rId2" Type="http://schemas.microsoft.com/office/2011/relationships/chartColorStyle" Target="colors6.xml"/><Relationship Id="rId1" Type="http://schemas.microsoft.com/office/2011/relationships/chartStyle" Target="style6.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6ec92e6dbaf9f852/Desktop/Tee's%20Data%20Analysis%20Workbook/Supply%20Chain/Supply-Chain-Dirty-Dataset.xlsx" TargetMode="External"/><Relationship Id="rId2" Type="http://schemas.microsoft.com/office/2011/relationships/chartColorStyle" Target="colors7.xml"/><Relationship Id="rId1" Type="http://schemas.microsoft.com/office/2011/relationships/chartStyle" Target="style7.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6ec92e6dbaf9f852/Desktop/Tee's%20Data%20Analysis%20Workbook/Supply%20Chain/Supply-Chain-Dirty-Dataset.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[Supply-Chain-Dirty-Dataset.xlsx]Analysis!Route by shipping cost</c:name>
    <c:fmtId val="52"/>
  </c:pivotSource>
  <c:chart>
    <c:title>
      <c:tx>
        <c:rich>
          <a:bodyPr rot="0" spcFirstLastPara="1" vertOverflow="ellipsis" vert="horz" wrap="square" anchor="ctr" anchorCtr="1"/>
          <a:lstStyle/>
          <a:p>
            <a:pPr>
              <a:defRPr sz="1200" b="1" i="0" u="none" strike="noStrike" kern="1200" cap="all" spc="50" baseline="0">
                <a:solidFill>
                  <a:schemeClr val="tx1">
                    <a:lumMod val="65000"/>
                    <a:lumOff val="35000"/>
                  </a:schemeClr>
                </a:solidFill>
                <a:latin typeface="+mn-lt"/>
                <a:ea typeface="+mn-ea"/>
                <a:cs typeface="+mn-cs"/>
              </a:defRPr>
            </a:pPr>
            <a:r>
              <a:rPr lang="en-US" sz="900" dirty="0">
                <a:latin typeface="Aptos" panose="020B0004020202020204" pitchFamily="34" charset="0"/>
              </a:rPr>
              <a:t>Shipping cost by </a:t>
            </a:r>
            <a:r>
              <a:rPr lang="en-US" sz="900" baseline="0" dirty="0">
                <a:latin typeface="Aptos" panose="020B0004020202020204" pitchFamily="34" charset="0"/>
              </a:rPr>
              <a:t>routes</a:t>
            </a:r>
            <a:endParaRPr lang="en-US" sz="900" dirty="0">
              <a:latin typeface="Aptos" panose="020B0004020202020204" pitchFamily="34" charset="0"/>
            </a:endParaRPr>
          </a:p>
        </c:rich>
      </c:tx>
      <c:layout>
        <c:manualLayout>
          <c:xMode val="edge"/>
          <c:yMode val="edge"/>
          <c:x val="1.535714122317263E-3"/>
          <c:y val="1.3168224667597923E-3"/>
        </c:manualLayout>
      </c:layout>
      <c:overlay val="0"/>
      <c:spPr>
        <a:noFill/>
        <a:ln>
          <a:noFill/>
        </a:ln>
        <a:effectLst/>
      </c:spPr>
      <c:txPr>
        <a:bodyPr rot="0" spcFirstLastPara="1" vertOverflow="ellipsis" vert="horz" wrap="square" anchor="ctr" anchorCtr="1"/>
        <a:lstStyle/>
        <a:p>
          <a:pPr>
            <a:defRPr sz="1200" b="1" i="0" u="none" strike="noStrike" kern="1200" cap="all" spc="50" baseline="0">
              <a:solidFill>
                <a:schemeClr val="tx1">
                  <a:lumMod val="65000"/>
                  <a:lumOff val="35000"/>
                </a:schemeClr>
              </a:solidFill>
              <a:latin typeface="+mn-lt"/>
              <a:ea typeface="+mn-ea"/>
              <a:cs typeface="+mn-cs"/>
            </a:defRPr>
          </a:pPr>
          <a:endParaRPr lang="en-US"/>
        </a:p>
      </c:txPr>
    </c:title>
    <c:autoTitleDeleted val="0"/>
    <c:pivotFmts>
      <c:pivotFmt>
        <c:idx val="0"/>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circle"/>
          <c:size val="6"/>
          <c:spPr>
            <a:gradFill>
              <a:gsLst>
                <a:gs pos="0">
                  <a:schemeClr val="accent1"/>
                </a:gs>
                <a:gs pos="46000">
                  <a:schemeClr val="accent1"/>
                </a:gs>
                <a:gs pos="100000">
                  <a:schemeClr val="accent1">
                    <a:lumMod val="20000"/>
                    <a:lumOff val="80000"/>
                    <a:alpha val="0"/>
                  </a:schemeClr>
                </a:gs>
              </a:gsLst>
              <a:path path="circle">
                <a:fillToRect l="50000" t="-80000" r="50000" b="180000"/>
              </a:path>
            </a:gradFill>
            <a:ln w="9525" cap="flat" cmpd="sng" algn="ctr">
              <a:solidFill>
                <a:schemeClr val="accent1">
                  <a:shade val="9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9341733491500009E-2"/>
          <c:y val="0.11247015184884665"/>
          <c:w val="0.83447417959537629"/>
          <c:h val="0.78737998780647622"/>
        </c:manualLayout>
      </c:layout>
      <c:barChart>
        <c:barDir val="bar"/>
        <c:grouping val="clustered"/>
        <c:varyColors val="0"/>
        <c:ser>
          <c:idx val="0"/>
          <c:order val="0"/>
          <c:tx>
            <c:strRef>
              <c:f>Analysis!$B$3</c:f>
              <c:strCache>
                <c:ptCount val="1"/>
                <c:pt idx="0">
                  <c:v>Total</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cat>
            <c:strRef>
              <c:f>Analysis!$A$4:$A$7</c:f>
              <c:strCache>
                <c:ptCount val="3"/>
                <c:pt idx="0">
                  <c:v>Route A</c:v>
                </c:pt>
                <c:pt idx="1">
                  <c:v>Route B</c:v>
                </c:pt>
                <c:pt idx="2">
                  <c:v>Route C</c:v>
                </c:pt>
              </c:strCache>
            </c:strRef>
          </c:cat>
          <c:val>
            <c:numRef>
              <c:f>Analysis!$B$4:$B$7</c:f>
              <c:numCache>
                <c:formatCode>0.00</c:formatCode>
                <c:ptCount val="3"/>
                <c:pt idx="0">
                  <c:v>911.66186578500003</c:v>
                </c:pt>
                <c:pt idx="1">
                  <c:v>882.6333513320003</c:v>
                </c:pt>
                <c:pt idx="2">
                  <c:v>834.07161219499994</c:v>
                </c:pt>
              </c:numCache>
            </c:numRef>
          </c:val>
          <c:extLst>
            <c:ext xmlns:c16="http://schemas.microsoft.com/office/drawing/2014/chart" uri="{C3380CC4-5D6E-409C-BE32-E72D297353CC}">
              <c16:uniqueId val="{00000000-4E3B-4A76-9AE5-FD8F4BF03927}"/>
            </c:ext>
          </c:extLst>
        </c:ser>
        <c:dLbls>
          <c:showLegendKey val="0"/>
          <c:showVal val="0"/>
          <c:showCatName val="0"/>
          <c:showSerName val="0"/>
          <c:showPercent val="0"/>
          <c:showBubbleSize val="0"/>
        </c:dLbls>
        <c:gapWidth val="326"/>
        <c:overlap val="-58"/>
        <c:axId val="253323455"/>
        <c:axId val="1423420335"/>
      </c:barChart>
      <c:catAx>
        <c:axId val="253323455"/>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3420335"/>
        <c:crosses val="autoZero"/>
        <c:auto val="1"/>
        <c:lblAlgn val="ctr"/>
        <c:lblOffset val="100"/>
        <c:noMultiLvlLbl val="0"/>
      </c:catAx>
      <c:valAx>
        <c:axId val="1423420335"/>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33234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[Supply-Chain-Dirty-Dataset.xlsx]Analysis!PivotTable3</c:name>
    <c:fmtId val="32"/>
  </c:pivotSource>
  <c:chart>
    <c:title>
      <c:tx>
        <c:rich>
          <a:bodyPr rot="0" spcFirstLastPara="1" vertOverflow="ellipsis" vert="horz" wrap="square" anchor="ctr" anchorCtr="1"/>
          <a:lstStyle/>
          <a:p>
            <a:pPr>
              <a:defRPr sz="900" b="1" i="0" u="none" strike="noStrike" kern="1200" cap="all" spc="50" baseline="0">
                <a:solidFill>
                  <a:schemeClr val="tx1">
                    <a:lumMod val="65000"/>
                    <a:lumOff val="35000"/>
                  </a:schemeClr>
                </a:solidFill>
                <a:latin typeface="+mn-lt"/>
                <a:ea typeface="+mn-ea"/>
                <a:cs typeface="+mn-cs"/>
              </a:defRPr>
            </a:pPr>
            <a:r>
              <a:rPr lang="en-US" sz="900">
                <a:latin typeface="Aptos" panose="020B0004020202020204" pitchFamily="34" charset="0"/>
              </a:rPr>
              <a:t>Transportation Delay</a:t>
            </a:r>
            <a:r>
              <a:rPr lang="en-US" sz="900" baseline="0">
                <a:latin typeface="Aptos" panose="020B0004020202020204" pitchFamily="34" charset="0"/>
              </a:rPr>
              <a:t> caused by Supplier</a:t>
            </a:r>
            <a:endParaRPr lang="en-US" sz="900">
              <a:latin typeface="Aptos" panose="020B0004020202020204" pitchFamily="34" charset="0"/>
            </a:endParaRPr>
          </a:p>
        </c:rich>
      </c:tx>
      <c:layout>
        <c:manualLayout>
          <c:xMode val="edge"/>
          <c:yMode val="edge"/>
          <c:x val="1.5846505406042328E-3"/>
          <c:y val="6.0862212014790157E-4"/>
        </c:manualLayout>
      </c:layout>
      <c:overlay val="0"/>
      <c:spPr>
        <a:noFill/>
        <a:ln>
          <a:noFill/>
        </a:ln>
        <a:effectLst/>
      </c:spPr>
      <c:txPr>
        <a:bodyPr rot="0" spcFirstLastPara="1" vertOverflow="ellipsis" vert="horz" wrap="square" anchor="ctr" anchorCtr="1"/>
        <a:lstStyle/>
        <a:p>
          <a:pPr>
            <a:defRPr sz="900" b="1" i="0" u="none" strike="noStrike" kern="1200" cap="all" spc="50" baseline="0">
              <a:solidFill>
                <a:schemeClr val="tx1">
                  <a:lumMod val="65000"/>
                  <a:lumOff val="35000"/>
                </a:schemeClr>
              </a:solidFill>
              <a:latin typeface="+mn-lt"/>
              <a:ea typeface="+mn-ea"/>
              <a:cs typeface="+mn-cs"/>
            </a:defRPr>
          </a:pPr>
          <a:endParaRPr lang="en-US"/>
        </a:p>
      </c:txPr>
    </c:title>
    <c:autoTitleDeleted val="0"/>
    <c:pivotFmts>
      <c:pivotFmt>
        <c:idx val="0"/>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circle"/>
          <c:size val="6"/>
          <c:spPr>
            <a:gradFill>
              <a:gsLst>
                <a:gs pos="0">
                  <a:schemeClr val="accent1"/>
                </a:gs>
                <a:gs pos="46000">
                  <a:schemeClr val="accent1"/>
                </a:gs>
                <a:gs pos="100000">
                  <a:schemeClr val="accent1">
                    <a:lumMod val="20000"/>
                    <a:lumOff val="80000"/>
                    <a:alpha val="0"/>
                  </a:schemeClr>
                </a:gs>
              </a:gsLst>
              <a:path path="circle">
                <a:fillToRect l="50000" t="-80000" r="50000" b="180000"/>
              </a:path>
            </a:gradFill>
            <a:ln w="9525" cap="flat" cmpd="sng" algn="ctr">
              <a:solidFill>
                <a:schemeClr val="accent1">
                  <a:shade val="9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Analysis!$B$10</c:f>
              <c:strCache>
                <c:ptCount val="1"/>
                <c:pt idx="0">
                  <c:v>Total</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cat>
            <c:strRef>
              <c:f>Analysis!$A$11:$A$16</c:f>
              <c:strCache>
                <c:ptCount val="5"/>
                <c:pt idx="0">
                  <c:v>Supplier 1</c:v>
                </c:pt>
                <c:pt idx="1">
                  <c:v>Supplier 2</c:v>
                </c:pt>
                <c:pt idx="2">
                  <c:v>Supplier 3</c:v>
                </c:pt>
                <c:pt idx="3">
                  <c:v>Supplier 4</c:v>
                </c:pt>
                <c:pt idx="4">
                  <c:v>Supplier 5</c:v>
                </c:pt>
              </c:strCache>
            </c:strRef>
          </c:cat>
          <c:val>
            <c:numRef>
              <c:f>Analysis!$B$11:$B$16</c:f>
              <c:numCache>
                <c:formatCode>0.00</c:formatCode>
                <c:ptCount val="5"/>
                <c:pt idx="0">
                  <c:v>461.54302327999994</c:v>
                </c:pt>
                <c:pt idx="1">
                  <c:v>536.09367776200008</c:v>
                </c:pt>
                <c:pt idx="2">
                  <c:v>627.41472311500002</c:v>
                </c:pt>
                <c:pt idx="3">
                  <c:v>453.11314393299995</c:v>
                </c:pt>
                <c:pt idx="4">
                  <c:v>513.59675313399975</c:v>
                </c:pt>
              </c:numCache>
            </c:numRef>
          </c:val>
          <c:extLst>
            <c:ext xmlns:c16="http://schemas.microsoft.com/office/drawing/2014/chart" uri="{C3380CC4-5D6E-409C-BE32-E72D297353CC}">
              <c16:uniqueId val="{00000000-F7BF-486C-BEB4-473D2043BD68}"/>
            </c:ext>
          </c:extLst>
        </c:ser>
        <c:dLbls>
          <c:showLegendKey val="0"/>
          <c:showVal val="0"/>
          <c:showCatName val="0"/>
          <c:showSerName val="0"/>
          <c:showPercent val="0"/>
          <c:showBubbleSize val="0"/>
        </c:dLbls>
        <c:gapWidth val="326"/>
        <c:overlap val="-58"/>
        <c:axId val="253257103"/>
        <c:axId val="60966095"/>
      </c:barChart>
      <c:catAx>
        <c:axId val="253257103"/>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966095"/>
        <c:crosses val="autoZero"/>
        <c:auto val="1"/>
        <c:lblAlgn val="ctr"/>
        <c:lblOffset val="100"/>
        <c:noMultiLvlLbl val="0"/>
      </c:catAx>
      <c:valAx>
        <c:axId val="60966095"/>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325710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[Supply-Chain-Dirty-Dataset.xlsx]Analysis!PivotTable5</c:name>
    <c:fmtId val="39"/>
  </c:pivotSource>
  <c:chart>
    <c:title>
      <c:tx>
        <c:rich>
          <a:bodyPr rot="0" spcFirstLastPara="1" vertOverflow="ellipsis" vert="horz" wrap="square" anchor="ctr" anchorCtr="1"/>
          <a:lstStyle/>
          <a:p>
            <a:pPr>
              <a:defRPr sz="900" b="1" i="0" u="none" strike="noStrike" kern="1200" cap="all" spc="50" baseline="0">
                <a:solidFill>
                  <a:schemeClr val="tx1">
                    <a:lumMod val="65000"/>
                    <a:lumOff val="35000"/>
                  </a:schemeClr>
                </a:solidFill>
                <a:latin typeface="+mn-lt"/>
                <a:ea typeface="+mn-ea"/>
                <a:cs typeface="+mn-cs"/>
              </a:defRPr>
            </a:pPr>
            <a:r>
              <a:rPr lang="en-US" sz="900">
                <a:latin typeface="Aptos" panose="020B0004020202020204" pitchFamily="34" charset="0"/>
              </a:rPr>
              <a:t>High defects rates linked to specific suppliers or manufacturing lead times</a:t>
            </a:r>
          </a:p>
        </c:rich>
      </c:tx>
      <c:layout>
        <c:manualLayout>
          <c:xMode val="edge"/>
          <c:yMode val="edge"/>
          <c:x val="4.1500119715548992E-4"/>
          <c:y val="2.6012315571617975E-3"/>
        </c:manualLayout>
      </c:layout>
      <c:overlay val="0"/>
      <c:spPr>
        <a:noFill/>
        <a:ln>
          <a:noFill/>
        </a:ln>
        <a:effectLst/>
      </c:spPr>
    </c:title>
    <c:autoTitleDeleted val="0"/>
    <c:pivotFmts>
      <c:pivotFmt>
        <c:idx val="0"/>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circle"/>
          <c:size val="6"/>
          <c:spPr>
            <a:gradFill>
              <a:gsLst>
                <a:gs pos="0">
                  <a:schemeClr val="accent1"/>
                </a:gs>
                <a:gs pos="46000">
                  <a:schemeClr val="accent1"/>
                </a:gs>
                <a:gs pos="100000">
                  <a:schemeClr val="accent1">
                    <a:lumMod val="20000"/>
                    <a:lumOff val="80000"/>
                    <a:alpha val="0"/>
                  </a:schemeClr>
                </a:gs>
              </a:gsLst>
              <a:path path="circle">
                <a:fillToRect l="50000" t="-80000" r="50000" b="180000"/>
              </a:path>
            </a:gradFill>
            <a:ln w="9525" cap="flat" cmpd="sng" algn="ctr">
              <a:solidFill>
                <a:schemeClr val="accent1">
                  <a:shade val="95000"/>
                </a:schemeClr>
              </a:solidFill>
              <a:round/>
            </a:ln>
            <a:effectLst/>
          </c:spPr>
        </c:marker>
        <c:dLbl>
          <c:idx val="0"/>
          <c:delete val="1"/>
          <c:extLst>
            <c:ext xmlns:c15="http://schemas.microsoft.com/office/drawing/2012/chart" uri="{CE6537A1-D6FC-4f65-9D91-7224C49458BB}"/>
          </c:extLst>
        </c:dLbl>
      </c:pivotFmt>
      <c:pivotFmt>
        <c:idx val="1"/>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2"/>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3"/>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4"/>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5"/>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6"/>
        <c:marker>
          <c:symbol val="none"/>
        </c:marker>
        <c:dLbl>
          <c:idx val="0"/>
          <c:delete val="1"/>
          <c:extLst>
            <c:ext xmlns:c15="http://schemas.microsoft.com/office/drawing/2012/chart" uri="{CE6537A1-D6FC-4f65-9D91-7224C49458BB}"/>
          </c:extLst>
        </c:dLbl>
      </c:pivotFmt>
      <c:pivotFmt>
        <c:idx val="7"/>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8"/>
        <c:marker>
          <c:symbol val="none"/>
        </c:marker>
        <c:dLbl>
          <c:idx val="0"/>
          <c:delete val="1"/>
          <c:extLst>
            <c:ext xmlns:c15="http://schemas.microsoft.com/office/drawing/2012/chart" uri="{CE6537A1-D6FC-4f65-9D91-7224C49458BB}"/>
          </c:extLst>
        </c:dLbl>
      </c:pivotFmt>
      <c:pivotFmt>
        <c:idx val="9"/>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10"/>
        <c:marker>
          <c:symbol val="none"/>
        </c:marker>
        <c:dLbl>
          <c:idx val="0"/>
          <c:delete val="1"/>
          <c:extLst>
            <c:ext xmlns:c15="http://schemas.microsoft.com/office/drawing/2012/chart" uri="{CE6537A1-D6FC-4f65-9D91-7224C49458BB}"/>
          </c:extLst>
        </c:dLbl>
      </c:pivotFmt>
      <c:pivotFmt>
        <c:idx val="11"/>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12"/>
        <c:marker>
          <c:symbol val="none"/>
        </c:marker>
        <c:dLbl>
          <c:idx val="0"/>
          <c:delete val="1"/>
          <c:extLst>
            <c:ext xmlns:c15="http://schemas.microsoft.com/office/drawing/2012/chart" uri="{CE6537A1-D6FC-4f65-9D91-7224C49458BB}"/>
          </c:extLst>
        </c:dLbl>
      </c:pivotFmt>
      <c:pivotFmt>
        <c:idx val="13"/>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14"/>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9.1139369221040087E-2"/>
          <c:y val="0.16338936308132646"/>
          <c:w val="0.72341782907511565"/>
          <c:h val="0.75972726598977247"/>
        </c:manualLayout>
      </c:layout>
      <c:barChart>
        <c:barDir val="bar"/>
        <c:grouping val="clustered"/>
        <c:varyColors val="0"/>
        <c:ser>
          <c:idx val="0"/>
          <c:order val="0"/>
          <c:tx>
            <c:strRef>
              <c:f>Analysis!$B$32</c:f>
              <c:strCache>
                <c:ptCount val="1"/>
                <c:pt idx="0">
                  <c:v>Average of Defect rates</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cat>
            <c:strRef>
              <c:f>Analysis!$A$33:$A$38</c:f>
              <c:strCache>
                <c:ptCount val="5"/>
                <c:pt idx="0">
                  <c:v>Supplier 1</c:v>
                </c:pt>
                <c:pt idx="1">
                  <c:v>Supplier 2</c:v>
                </c:pt>
                <c:pt idx="2">
                  <c:v>Supplier 3</c:v>
                </c:pt>
                <c:pt idx="3">
                  <c:v>Supplier 4</c:v>
                </c:pt>
                <c:pt idx="4">
                  <c:v>Supplier 5</c:v>
                </c:pt>
              </c:strCache>
            </c:strRef>
          </c:cat>
          <c:val>
            <c:numRef>
              <c:f>Analysis!$B$33:$B$38</c:f>
              <c:numCache>
                <c:formatCode>0.0000</c:formatCode>
                <c:ptCount val="5"/>
                <c:pt idx="0">
                  <c:v>2.7996253694302329</c:v>
                </c:pt>
                <c:pt idx="1">
                  <c:v>2.6000047144500003</c:v>
                </c:pt>
                <c:pt idx="2">
                  <c:v>2.7222198359203529</c:v>
                </c:pt>
                <c:pt idx="3">
                  <c:v>2.3540339976666678</c:v>
                </c:pt>
                <c:pt idx="4">
                  <c:v>2.5261553421111107</c:v>
                </c:pt>
              </c:numCache>
            </c:numRef>
          </c:val>
          <c:extLst>
            <c:ext xmlns:c16="http://schemas.microsoft.com/office/drawing/2014/chart" uri="{C3380CC4-5D6E-409C-BE32-E72D297353CC}">
              <c16:uniqueId val="{00000000-4F78-49AF-BAB9-51C3732CE2E1}"/>
            </c:ext>
          </c:extLst>
        </c:ser>
        <c:ser>
          <c:idx val="1"/>
          <c:order val="1"/>
          <c:tx>
            <c:strRef>
              <c:f>Analysis!$C$32</c:f>
              <c:strCache>
                <c:ptCount val="1"/>
                <c:pt idx="0">
                  <c:v>Average of Manufacturing lead time</c:v>
                </c:pt>
              </c:strCache>
            </c:strRef>
          </c:tx>
          <c:invertIfNegative val="0"/>
          <c:cat>
            <c:strRef>
              <c:f>Analysis!$A$33:$A$38</c:f>
              <c:strCache>
                <c:ptCount val="5"/>
                <c:pt idx="0">
                  <c:v>Supplier 1</c:v>
                </c:pt>
                <c:pt idx="1">
                  <c:v>Supplier 2</c:v>
                </c:pt>
                <c:pt idx="2">
                  <c:v>Supplier 3</c:v>
                </c:pt>
                <c:pt idx="3">
                  <c:v>Supplier 4</c:v>
                </c:pt>
                <c:pt idx="4">
                  <c:v>Supplier 5</c:v>
                </c:pt>
              </c:strCache>
            </c:strRef>
          </c:cat>
          <c:val>
            <c:numRef>
              <c:f>Analysis!$C$33:$C$38</c:f>
              <c:numCache>
                <c:formatCode>General</c:formatCode>
                <c:ptCount val="5"/>
                <c:pt idx="0">
                  <c:v>14.732558139534884</c:v>
                </c:pt>
                <c:pt idx="1">
                  <c:v>14.2</c:v>
                </c:pt>
                <c:pt idx="2">
                  <c:v>14.486725663716815</c:v>
                </c:pt>
                <c:pt idx="3">
                  <c:v>16.345238095238095</c:v>
                </c:pt>
                <c:pt idx="4">
                  <c:v>14.6</c:v>
                </c:pt>
              </c:numCache>
            </c:numRef>
          </c:val>
          <c:extLst>
            <c:ext xmlns:c16="http://schemas.microsoft.com/office/drawing/2014/chart" uri="{C3380CC4-5D6E-409C-BE32-E72D297353CC}">
              <c16:uniqueId val="{00000001-4F78-49AF-BAB9-51C3732CE2E1}"/>
            </c:ext>
          </c:extLst>
        </c:ser>
        <c:dLbls>
          <c:showLegendKey val="0"/>
          <c:showVal val="0"/>
          <c:showCatName val="0"/>
          <c:showSerName val="0"/>
          <c:showPercent val="0"/>
          <c:showBubbleSize val="0"/>
        </c:dLbls>
        <c:gapWidth val="326"/>
        <c:overlap val="-58"/>
        <c:axId val="253257103"/>
        <c:axId val="60966095"/>
      </c:barChart>
      <c:catAx>
        <c:axId val="253257103"/>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966095"/>
        <c:crosses val="autoZero"/>
        <c:auto val="1"/>
        <c:lblAlgn val="ctr"/>
        <c:lblOffset val="100"/>
        <c:noMultiLvlLbl val="0"/>
      </c:catAx>
      <c:valAx>
        <c:axId val="60966095"/>
        <c:scaling>
          <c:orientation val="minMax"/>
        </c:scaling>
        <c:delete val="0"/>
        <c:axPos val="b"/>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3257103"/>
        <c:crosses val="autoZero"/>
        <c:crossBetween val="between"/>
      </c:valAx>
    </c:plotArea>
    <c:legend>
      <c:legendPos val="r"/>
      <c:layout>
        <c:manualLayout>
          <c:xMode val="edge"/>
          <c:yMode val="edge"/>
          <c:x val="0.8460724663117456"/>
          <c:y val="0.44125566412631273"/>
          <c:w val="0.14331333071460611"/>
          <c:h val="0.221222689281766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ln>
      <a:solidFill>
        <a:schemeClr val="tx1"/>
      </a:solidFill>
    </a:ln>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[Supply-Chain-Dirty-Dataset.xlsx]Analysis!PivotTable6</c:name>
    <c:fmtId val="29"/>
  </c:pivotSource>
  <c:chart>
    <c:title>
      <c:tx>
        <c:rich>
          <a:bodyPr rot="0" spcFirstLastPara="1" vertOverflow="ellipsis" vert="horz" wrap="square" anchor="ctr" anchorCtr="1"/>
          <a:lstStyle/>
          <a:p>
            <a:pPr>
              <a:defRPr sz="900" b="0" i="0" u="none" strike="noStrike" kern="1200" cap="none" spc="20" baseline="0">
                <a:solidFill>
                  <a:schemeClr val="tx1">
                    <a:lumMod val="50000"/>
                    <a:lumOff val="50000"/>
                  </a:schemeClr>
                </a:solidFill>
                <a:latin typeface="+mn-lt"/>
                <a:ea typeface="+mn-ea"/>
                <a:cs typeface="+mn-cs"/>
              </a:defRPr>
            </a:pPr>
            <a:r>
              <a:rPr lang="en-US" sz="900" b="1">
                <a:latin typeface="Aptos" panose="020B0004020202020204" pitchFamily="34" charset="0"/>
              </a:rPr>
              <a:t>Profitabilty</a:t>
            </a:r>
            <a:r>
              <a:rPr lang="en-US" sz="900" b="1" baseline="0">
                <a:latin typeface="Aptos" panose="020B0004020202020204" pitchFamily="34" charset="0"/>
              </a:rPr>
              <a:t> by product in ascending order</a:t>
            </a:r>
            <a:endParaRPr lang="en-US" sz="900" b="1">
              <a:latin typeface="Aptos" panose="020B0004020202020204" pitchFamily="34" charset="0"/>
            </a:endParaRPr>
          </a:p>
        </c:rich>
      </c:tx>
      <c:layout>
        <c:manualLayout>
          <c:xMode val="edge"/>
          <c:yMode val="edge"/>
          <c:x val="1.8090258383889016E-3"/>
          <c:y val="0"/>
        </c:manualLayout>
      </c:layout>
      <c:overlay val="0"/>
      <c:spPr>
        <a:noFill/>
        <a:ln>
          <a:noFill/>
        </a:ln>
        <a:effectLst/>
      </c:spPr>
      <c:txPr>
        <a:bodyPr rot="0" spcFirstLastPara="1" vertOverflow="ellipsis" vert="horz" wrap="square" anchor="ctr" anchorCtr="1"/>
        <a:lstStyle/>
        <a:p>
          <a:pPr>
            <a:defRPr sz="900" b="0" i="0" u="none" strike="noStrike" kern="1200" cap="none" spc="20" baseline="0">
              <a:solidFill>
                <a:schemeClr val="tx1">
                  <a:lumMod val="50000"/>
                  <a:lumOff val="50000"/>
                </a:schemeClr>
              </a:solidFill>
              <a:latin typeface="+mn-lt"/>
              <a:ea typeface="+mn-ea"/>
              <a:cs typeface="+mn-cs"/>
            </a:defRPr>
          </a:pPr>
          <a:endParaRPr lang="en-US"/>
        </a:p>
      </c:txPr>
    </c:title>
    <c:autoTitleDeleted val="0"/>
    <c:pivotFmts>
      <c:pivotFmt>
        <c:idx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circle"/>
          <c:size val="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2883203035932856E-2"/>
          <c:y val="0.17266612619811408"/>
          <c:w val="0.89213452877689081"/>
          <c:h val="0.76384433471295032"/>
        </c:manualLayout>
      </c:layout>
      <c:barChart>
        <c:barDir val="col"/>
        <c:grouping val="clustered"/>
        <c:varyColors val="0"/>
        <c:ser>
          <c:idx val="0"/>
          <c:order val="0"/>
          <c:tx>
            <c:strRef>
              <c:f>Analysis!$B$42</c:f>
              <c:strCache>
                <c:ptCount val="1"/>
                <c:pt idx="0">
                  <c:v>Total</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cat>
            <c:strRef>
              <c:f>Analysis!$A$43:$A$53</c:f>
              <c:strCache>
                <c:ptCount val="10"/>
                <c:pt idx="0">
                  <c:v>SKU198</c:v>
                </c:pt>
                <c:pt idx="1">
                  <c:v>SKU146</c:v>
                </c:pt>
                <c:pt idx="2">
                  <c:v>SKU393</c:v>
                </c:pt>
                <c:pt idx="3">
                  <c:v>SKU208</c:v>
                </c:pt>
                <c:pt idx="4">
                  <c:v>SKU378</c:v>
                </c:pt>
                <c:pt idx="5">
                  <c:v>SKU275</c:v>
                </c:pt>
                <c:pt idx="6">
                  <c:v>SKU40</c:v>
                </c:pt>
                <c:pt idx="7">
                  <c:v>SKU223</c:v>
                </c:pt>
                <c:pt idx="8">
                  <c:v>SKU43</c:v>
                </c:pt>
                <c:pt idx="9">
                  <c:v>SKU267</c:v>
                </c:pt>
              </c:strCache>
            </c:strRef>
          </c:cat>
          <c:val>
            <c:numRef>
              <c:f>Analysis!$B$43:$B$53</c:f>
              <c:numCache>
                <c:formatCode>0.000</c:formatCode>
                <c:ptCount val="10"/>
                <c:pt idx="0">
                  <c:v>976.02035283400005</c:v>
                </c:pt>
                <c:pt idx="1">
                  <c:v>968.79876385199998</c:v>
                </c:pt>
                <c:pt idx="2">
                  <c:v>960.14858457299999</c:v>
                </c:pt>
                <c:pt idx="3">
                  <c:v>956.35533908399998</c:v>
                </c:pt>
                <c:pt idx="4">
                  <c:v>948.35676173999991</c:v>
                </c:pt>
                <c:pt idx="5">
                  <c:v>945.72638379600005</c:v>
                </c:pt>
                <c:pt idx="6">
                  <c:v>944.76048504100004</c:v>
                </c:pt>
                <c:pt idx="7">
                  <c:v>939.72146825400011</c:v>
                </c:pt>
                <c:pt idx="8">
                  <c:v>929.50840539300009</c:v>
                </c:pt>
                <c:pt idx="9">
                  <c:v>929.40765167300003</c:v>
                </c:pt>
              </c:numCache>
            </c:numRef>
          </c:val>
          <c:extLst>
            <c:ext xmlns:c16="http://schemas.microsoft.com/office/drawing/2014/chart" uri="{C3380CC4-5D6E-409C-BE32-E72D297353CC}">
              <c16:uniqueId val="{00000000-0B34-4566-8EA1-8095C4E2C5AE}"/>
            </c:ext>
          </c:extLst>
        </c:ser>
        <c:dLbls>
          <c:showLegendKey val="0"/>
          <c:showVal val="0"/>
          <c:showCatName val="0"/>
          <c:showSerName val="0"/>
          <c:showPercent val="0"/>
          <c:showBubbleSize val="0"/>
        </c:dLbls>
        <c:gapWidth val="100"/>
        <c:overlap val="-24"/>
        <c:axId val="2112324447"/>
        <c:axId val="2091211631"/>
      </c:barChart>
      <c:catAx>
        <c:axId val="2112324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2091211631"/>
        <c:crosses val="autoZero"/>
        <c:auto val="1"/>
        <c:lblAlgn val="ctr"/>
        <c:lblOffset val="100"/>
        <c:noMultiLvlLbl val="0"/>
      </c:catAx>
      <c:valAx>
        <c:axId val="2091211631"/>
        <c:scaling>
          <c:orientation val="minMax"/>
        </c:scaling>
        <c:delete val="0"/>
        <c:axPos val="l"/>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21123244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[Supply-Chain-Dirty-Dataset.xlsx]Analysis!Route by shipping cost</c:name>
    <c:fmtId val="48"/>
  </c:pivotSource>
  <c:chart>
    <c:title>
      <c:tx>
        <c:rich>
          <a:bodyPr rot="0" spcFirstLastPara="1" vertOverflow="ellipsis" vert="horz" wrap="square" anchor="ctr" anchorCtr="1"/>
          <a:lstStyle/>
          <a:p>
            <a:pPr>
              <a:defRPr sz="1200" b="1" i="0" u="none" strike="noStrike" kern="1200" cap="all" spc="50" baseline="0">
                <a:solidFill>
                  <a:schemeClr val="tx1">
                    <a:lumMod val="65000"/>
                    <a:lumOff val="35000"/>
                  </a:schemeClr>
                </a:solidFill>
                <a:latin typeface="+mn-lt"/>
                <a:ea typeface="+mn-ea"/>
                <a:cs typeface="+mn-cs"/>
              </a:defRPr>
            </a:pPr>
            <a:r>
              <a:rPr lang="en-US" sz="1200">
                <a:latin typeface="Aptos" panose="020B0004020202020204" pitchFamily="34" charset="0"/>
              </a:rPr>
              <a:t>Shipping cost by </a:t>
            </a:r>
            <a:r>
              <a:rPr lang="en-US" sz="1200" baseline="0">
                <a:latin typeface="Aptos" panose="020B0004020202020204" pitchFamily="34" charset="0"/>
              </a:rPr>
              <a:t>routes</a:t>
            </a:r>
            <a:endParaRPr lang="en-US" sz="1200">
              <a:latin typeface="Aptos" panose="020B0004020202020204" pitchFamily="34" charset="0"/>
            </a:endParaRPr>
          </a:p>
        </c:rich>
      </c:tx>
      <c:layout>
        <c:manualLayout>
          <c:xMode val="edge"/>
          <c:yMode val="edge"/>
          <c:x val="0.35015960390734335"/>
          <c:y val="3.1668119633282629E-2"/>
        </c:manualLayout>
      </c:layout>
      <c:overlay val="0"/>
      <c:spPr>
        <a:noFill/>
        <a:ln>
          <a:noFill/>
        </a:ln>
        <a:effectLst/>
      </c:spPr>
      <c:txPr>
        <a:bodyPr rot="0" spcFirstLastPara="1" vertOverflow="ellipsis" vert="horz" wrap="square" anchor="ctr" anchorCtr="1"/>
        <a:lstStyle/>
        <a:p>
          <a:pPr>
            <a:defRPr sz="1200" b="1" i="0" u="none" strike="noStrike" kern="1200" cap="all" spc="50" baseline="0">
              <a:solidFill>
                <a:schemeClr val="tx1">
                  <a:lumMod val="65000"/>
                  <a:lumOff val="35000"/>
                </a:schemeClr>
              </a:solidFill>
              <a:latin typeface="+mn-lt"/>
              <a:ea typeface="+mn-ea"/>
              <a:cs typeface="+mn-cs"/>
            </a:defRPr>
          </a:pPr>
          <a:endParaRPr lang="en-US"/>
        </a:p>
      </c:txPr>
    </c:title>
    <c:autoTitleDeleted val="0"/>
    <c:pivotFmts>
      <c:pivotFmt>
        <c:idx val="0"/>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circle"/>
          <c:size val="6"/>
          <c:spPr>
            <a:gradFill>
              <a:gsLst>
                <a:gs pos="0">
                  <a:schemeClr val="accent1"/>
                </a:gs>
                <a:gs pos="46000">
                  <a:schemeClr val="accent1"/>
                </a:gs>
                <a:gs pos="100000">
                  <a:schemeClr val="accent1">
                    <a:lumMod val="20000"/>
                    <a:lumOff val="80000"/>
                    <a:alpha val="0"/>
                  </a:schemeClr>
                </a:gs>
              </a:gsLst>
              <a:path path="circle">
                <a:fillToRect l="50000" t="-80000" r="50000" b="180000"/>
              </a:path>
            </a:gradFill>
            <a:ln w="9525" cap="flat" cmpd="sng" algn="ctr">
              <a:solidFill>
                <a:schemeClr val="accent1">
                  <a:shade val="9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9341733491500009E-2"/>
          <c:y val="0.11247015184884665"/>
          <c:w val="0.83447417959537629"/>
          <c:h val="0.78737998780647622"/>
        </c:manualLayout>
      </c:layout>
      <c:barChart>
        <c:barDir val="bar"/>
        <c:grouping val="clustered"/>
        <c:varyColors val="0"/>
        <c:ser>
          <c:idx val="0"/>
          <c:order val="0"/>
          <c:tx>
            <c:strRef>
              <c:f>Analysis!$B$3</c:f>
              <c:strCache>
                <c:ptCount val="1"/>
                <c:pt idx="0">
                  <c:v>Total</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cat>
            <c:strRef>
              <c:f>Analysis!$A$4:$A$7</c:f>
              <c:strCache>
                <c:ptCount val="3"/>
                <c:pt idx="0">
                  <c:v>Route A</c:v>
                </c:pt>
                <c:pt idx="1">
                  <c:v>Route B</c:v>
                </c:pt>
                <c:pt idx="2">
                  <c:v>Route C</c:v>
                </c:pt>
              </c:strCache>
            </c:strRef>
          </c:cat>
          <c:val>
            <c:numRef>
              <c:f>Analysis!$B$4:$B$7</c:f>
              <c:numCache>
                <c:formatCode>0.00</c:formatCode>
                <c:ptCount val="3"/>
                <c:pt idx="0">
                  <c:v>911.66186578500003</c:v>
                </c:pt>
                <c:pt idx="1">
                  <c:v>882.6333513320003</c:v>
                </c:pt>
                <c:pt idx="2">
                  <c:v>834.07161219499994</c:v>
                </c:pt>
              </c:numCache>
            </c:numRef>
          </c:val>
          <c:extLst>
            <c:ext xmlns:c16="http://schemas.microsoft.com/office/drawing/2014/chart" uri="{C3380CC4-5D6E-409C-BE32-E72D297353CC}">
              <c16:uniqueId val="{00000000-6D32-45AB-BF51-912FC356A6A9}"/>
            </c:ext>
          </c:extLst>
        </c:ser>
        <c:dLbls>
          <c:showLegendKey val="0"/>
          <c:showVal val="0"/>
          <c:showCatName val="0"/>
          <c:showSerName val="0"/>
          <c:showPercent val="0"/>
          <c:showBubbleSize val="0"/>
        </c:dLbls>
        <c:gapWidth val="326"/>
        <c:overlap val="-58"/>
        <c:axId val="253323455"/>
        <c:axId val="1423420335"/>
      </c:barChart>
      <c:catAx>
        <c:axId val="253323455"/>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3420335"/>
        <c:crosses val="autoZero"/>
        <c:auto val="1"/>
        <c:lblAlgn val="ctr"/>
        <c:lblOffset val="100"/>
        <c:noMultiLvlLbl val="0"/>
      </c:catAx>
      <c:valAx>
        <c:axId val="1423420335"/>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33234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[Supply-Chain-Dirty-Dataset.xlsx]Analysis!PivotTable3</c:name>
    <c:fmtId val="32"/>
  </c:pivotSource>
  <c:chart>
    <c:title>
      <c:tx>
        <c:rich>
          <a:bodyPr rot="0" spcFirstLastPara="1" vertOverflow="ellipsis" vert="horz" wrap="square" anchor="ctr" anchorCtr="1"/>
          <a:lstStyle/>
          <a:p>
            <a:pPr>
              <a:defRPr sz="1200" b="1" i="0" u="none" strike="noStrike" kern="1200" cap="all" spc="50" baseline="0">
                <a:solidFill>
                  <a:schemeClr val="tx1">
                    <a:lumMod val="65000"/>
                    <a:lumOff val="35000"/>
                  </a:schemeClr>
                </a:solidFill>
                <a:latin typeface="+mn-lt"/>
                <a:ea typeface="+mn-ea"/>
                <a:cs typeface="+mn-cs"/>
              </a:defRPr>
            </a:pPr>
            <a:r>
              <a:rPr lang="en-US" sz="1200">
                <a:latin typeface="Aptos" panose="020B0004020202020204" pitchFamily="34" charset="0"/>
              </a:rPr>
              <a:t>Transportation Delay</a:t>
            </a:r>
            <a:r>
              <a:rPr lang="en-US" sz="1200" baseline="0">
                <a:latin typeface="Aptos" panose="020B0004020202020204" pitchFamily="34" charset="0"/>
              </a:rPr>
              <a:t> caused by Supplier</a:t>
            </a:r>
            <a:endParaRPr lang="en-US" sz="1200">
              <a:latin typeface="Aptos" panose="020B0004020202020204" pitchFamily="34" charset="0"/>
            </a:endParaRPr>
          </a:p>
        </c:rich>
      </c:tx>
      <c:layout>
        <c:manualLayout>
          <c:xMode val="edge"/>
          <c:yMode val="edge"/>
          <c:x val="0.26004374022151644"/>
          <c:y val="5.6673437614366377E-3"/>
        </c:manualLayout>
      </c:layout>
      <c:overlay val="0"/>
      <c:spPr>
        <a:noFill/>
        <a:ln>
          <a:noFill/>
        </a:ln>
        <a:effectLst/>
      </c:spPr>
      <c:txPr>
        <a:bodyPr rot="0" spcFirstLastPara="1" vertOverflow="ellipsis" vert="horz" wrap="square" anchor="ctr" anchorCtr="1"/>
        <a:lstStyle/>
        <a:p>
          <a:pPr>
            <a:defRPr sz="1200" b="1" i="0" u="none" strike="noStrike" kern="1200" cap="all" spc="50" baseline="0">
              <a:solidFill>
                <a:schemeClr val="tx1">
                  <a:lumMod val="65000"/>
                  <a:lumOff val="35000"/>
                </a:schemeClr>
              </a:solidFill>
              <a:latin typeface="+mn-lt"/>
              <a:ea typeface="+mn-ea"/>
              <a:cs typeface="+mn-cs"/>
            </a:defRPr>
          </a:pPr>
          <a:endParaRPr lang="en-US"/>
        </a:p>
      </c:txPr>
    </c:title>
    <c:autoTitleDeleted val="0"/>
    <c:pivotFmts>
      <c:pivotFmt>
        <c:idx val="0"/>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circle"/>
          <c:size val="6"/>
          <c:spPr>
            <a:gradFill>
              <a:gsLst>
                <a:gs pos="0">
                  <a:schemeClr val="accent1"/>
                </a:gs>
                <a:gs pos="46000">
                  <a:schemeClr val="accent1"/>
                </a:gs>
                <a:gs pos="100000">
                  <a:schemeClr val="accent1">
                    <a:lumMod val="20000"/>
                    <a:lumOff val="80000"/>
                    <a:alpha val="0"/>
                  </a:schemeClr>
                </a:gs>
              </a:gsLst>
              <a:path path="circle">
                <a:fillToRect l="50000" t="-80000" r="50000" b="180000"/>
              </a:path>
            </a:gradFill>
            <a:ln w="9525" cap="flat" cmpd="sng" algn="ctr">
              <a:solidFill>
                <a:schemeClr val="accent1">
                  <a:shade val="9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Analysis!$B$10</c:f>
              <c:strCache>
                <c:ptCount val="1"/>
                <c:pt idx="0">
                  <c:v>Total</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cat>
            <c:strRef>
              <c:f>Analysis!$A$11:$A$16</c:f>
              <c:strCache>
                <c:ptCount val="5"/>
                <c:pt idx="0">
                  <c:v>Supplier 1</c:v>
                </c:pt>
                <c:pt idx="1">
                  <c:v>Supplier 2</c:v>
                </c:pt>
                <c:pt idx="2">
                  <c:v>Supplier 3</c:v>
                </c:pt>
                <c:pt idx="3">
                  <c:v>Supplier 4</c:v>
                </c:pt>
                <c:pt idx="4">
                  <c:v>Supplier 5</c:v>
                </c:pt>
              </c:strCache>
            </c:strRef>
          </c:cat>
          <c:val>
            <c:numRef>
              <c:f>Analysis!$B$11:$B$16</c:f>
              <c:numCache>
                <c:formatCode>0.00</c:formatCode>
                <c:ptCount val="5"/>
                <c:pt idx="0">
                  <c:v>461.54302327999994</c:v>
                </c:pt>
                <c:pt idx="1">
                  <c:v>536.09367776200008</c:v>
                </c:pt>
                <c:pt idx="2">
                  <c:v>627.41472311500002</c:v>
                </c:pt>
                <c:pt idx="3">
                  <c:v>453.11314393299995</c:v>
                </c:pt>
                <c:pt idx="4">
                  <c:v>513.59675313399975</c:v>
                </c:pt>
              </c:numCache>
            </c:numRef>
          </c:val>
          <c:extLst>
            <c:ext xmlns:c16="http://schemas.microsoft.com/office/drawing/2014/chart" uri="{C3380CC4-5D6E-409C-BE32-E72D297353CC}">
              <c16:uniqueId val="{00000000-816F-4FE9-9538-4D25351603DD}"/>
            </c:ext>
          </c:extLst>
        </c:ser>
        <c:dLbls>
          <c:showLegendKey val="0"/>
          <c:showVal val="0"/>
          <c:showCatName val="0"/>
          <c:showSerName val="0"/>
          <c:showPercent val="0"/>
          <c:showBubbleSize val="0"/>
        </c:dLbls>
        <c:gapWidth val="326"/>
        <c:overlap val="-58"/>
        <c:axId val="253257103"/>
        <c:axId val="60966095"/>
      </c:barChart>
      <c:catAx>
        <c:axId val="253257103"/>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966095"/>
        <c:crosses val="autoZero"/>
        <c:auto val="1"/>
        <c:lblAlgn val="ctr"/>
        <c:lblOffset val="100"/>
        <c:noMultiLvlLbl val="0"/>
      </c:catAx>
      <c:valAx>
        <c:axId val="60966095"/>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325710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[Supply-Chain-Dirty-Dataset.xlsx]Analysis!PivotTable5</c:name>
    <c:fmtId val="40"/>
  </c:pivotSource>
  <c:chart>
    <c:title>
      <c:tx>
        <c:rich>
          <a:bodyPr rot="0" spcFirstLastPara="1" vertOverflow="ellipsis" vert="horz" wrap="square" anchor="ctr" anchorCtr="1"/>
          <a:lstStyle/>
          <a:p>
            <a:pPr>
              <a:defRPr sz="1200" b="1" i="0" u="none" strike="noStrike" kern="1200" cap="all" spc="50" baseline="0">
                <a:solidFill>
                  <a:schemeClr val="tx1">
                    <a:lumMod val="65000"/>
                    <a:lumOff val="35000"/>
                  </a:schemeClr>
                </a:solidFill>
                <a:latin typeface="+mn-lt"/>
                <a:ea typeface="+mn-ea"/>
                <a:cs typeface="+mn-cs"/>
              </a:defRPr>
            </a:pPr>
            <a:r>
              <a:rPr lang="en-US" sz="1200" dirty="0">
                <a:latin typeface="Aptos" panose="020B0004020202020204" pitchFamily="34" charset="0"/>
              </a:rPr>
              <a:t>High defects rates linked to specific suppliers or manufacturing lead times</a:t>
            </a:r>
          </a:p>
        </c:rich>
      </c:tx>
      <c:layout>
        <c:manualLayout>
          <c:xMode val="edge"/>
          <c:yMode val="edge"/>
          <c:x val="0.19824873225798231"/>
          <c:y val="7.2724941943309057E-2"/>
        </c:manualLayout>
      </c:layout>
      <c:overlay val="0"/>
      <c:spPr>
        <a:noFill/>
        <a:ln>
          <a:noFill/>
        </a:ln>
        <a:effectLst/>
      </c:spPr>
    </c:title>
    <c:autoTitleDeleted val="0"/>
    <c:pivotFmts>
      <c:pivotFmt>
        <c:idx val="0"/>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circle"/>
          <c:size val="6"/>
          <c:spPr>
            <a:gradFill>
              <a:gsLst>
                <a:gs pos="0">
                  <a:schemeClr val="accent1"/>
                </a:gs>
                <a:gs pos="46000">
                  <a:schemeClr val="accent1"/>
                </a:gs>
                <a:gs pos="100000">
                  <a:schemeClr val="accent1">
                    <a:lumMod val="20000"/>
                    <a:lumOff val="80000"/>
                    <a:alpha val="0"/>
                  </a:schemeClr>
                </a:gs>
              </a:gsLst>
              <a:path path="circle">
                <a:fillToRect l="50000" t="-80000" r="50000" b="180000"/>
              </a:path>
            </a:gradFill>
            <a:ln w="9525" cap="flat" cmpd="sng" algn="ctr">
              <a:solidFill>
                <a:schemeClr val="accent1">
                  <a:shade val="95000"/>
                </a:schemeClr>
              </a:solidFill>
              <a:round/>
            </a:ln>
            <a:effectLst/>
          </c:spPr>
        </c:marker>
        <c:dLbl>
          <c:idx val="0"/>
          <c:delete val="1"/>
          <c:extLst>
            <c:ext xmlns:c15="http://schemas.microsoft.com/office/drawing/2012/chart" uri="{CE6537A1-D6FC-4f65-9D91-7224C49458BB}"/>
          </c:extLst>
        </c:dLbl>
      </c:pivotFmt>
      <c:pivotFmt>
        <c:idx val="1"/>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2"/>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3"/>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4"/>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5"/>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6"/>
        <c:marker>
          <c:symbol val="none"/>
        </c:marker>
        <c:dLbl>
          <c:idx val="0"/>
          <c:delete val="1"/>
          <c:extLst>
            <c:ext xmlns:c15="http://schemas.microsoft.com/office/drawing/2012/chart" uri="{CE6537A1-D6FC-4f65-9D91-7224C49458BB}"/>
          </c:extLst>
        </c:dLbl>
      </c:pivotFmt>
      <c:pivotFmt>
        <c:idx val="7"/>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8"/>
        <c:marker>
          <c:symbol val="none"/>
        </c:marker>
        <c:dLbl>
          <c:idx val="0"/>
          <c:delete val="1"/>
          <c:extLst>
            <c:ext xmlns:c15="http://schemas.microsoft.com/office/drawing/2012/chart" uri="{CE6537A1-D6FC-4f65-9D91-7224C49458BB}"/>
          </c:extLst>
        </c:dLbl>
      </c:pivotFmt>
      <c:pivotFmt>
        <c:idx val="9"/>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10"/>
        <c:marker>
          <c:symbol val="none"/>
        </c:marker>
        <c:dLbl>
          <c:idx val="0"/>
          <c:delete val="1"/>
          <c:extLst>
            <c:ext xmlns:c15="http://schemas.microsoft.com/office/drawing/2012/chart" uri="{CE6537A1-D6FC-4f65-9D91-7224C49458BB}"/>
          </c:extLst>
        </c:dLbl>
      </c:pivotFmt>
      <c:pivotFmt>
        <c:idx val="11"/>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12"/>
        <c:marker>
          <c:symbol val="none"/>
        </c:marker>
        <c:dLbl>
          <c:idx val="0"/>
          <c:delete val="1"/>
          <c:extLst>
            <c:ext xmlns:c15="http://schemas.microsoft.com/office/drawing/2012/chart" uri="{CE6537A1-D6FC-4f65-9D91-7224C49458BB}"/>
          </c:extLst>
        </c:dLbl>
      </c:pivotFmt>
      <c:pivotFmt>
        <c:idx val="13"/>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marker>
          <c:symbol val="none"/>
        </c:marker>
        <c:dLbl>
          <c:idx val="0"/>
          <c:delete val="1"/>
          <c:extLst>
            <c:ext xmlns:c15="http://schemas.microsoft.com/office/drawing/2012/chart" uri="{CE6537A1-D6FC-4f65-9D91-7224C49458BB}"/>
          </c:extLst>
        </c:dLbl>
      </c:pivotFmt>
      <c:pivotFmt>
        <c:idx val="14"/>
        <c:marker>
          <c:symbol val="none"/>
        </c:marker>
        <c:dLbl>
          <c:idx val="0"/>
          <c:delete val="1"/>
          <c:extLst>
            <c:ext xmlns:c15="http://schemas.microsoft.com/office/drawing/2012/chart" uri="{CE6537A1-D6FC-4f65-9D91-7224C49458BB}"/>
          </c:extLst>
        </c:dLbl>
      </c:pivotFmt>
    </c:pivotFmts>
    <c:plotArea>
      <c:layout>
        <c:manualLayout>
          <c:layoutTarget val="inner"/>
          <c:xMode val="edge"/>
          <c:yMode val="edge"/>
          <c:x val="9.1139369221040087E-2"/>
          <c:y val="0.16338936308132646"/>
          <c:w val="0.72341782907511565"/>
          <c:h val="0.75972726598977247"/>
        </c:manualLayout>
      </c:layout>
      <c:barChart>
        <c:barDir val="bar"/>
        <c:grouping val="clustered"/>
        <c:varyColors val="0"/>
        <c:ser>
          <c:idx val="0"/>
          <c:order val="0"/>
          <c:tx>
            <c:strRef>
              <c:f>Analysis!$B$32</c:f>
              <c:strCache>
                <c:ptCount val="1"/>
                <c:pt idx="0">
                  <c:v>Average of Defect rates</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10800000" scaled="1"/>
              <a:tileRect/>
            </a:gradFill>
            <a:ln>
              <a:noFill/>
            </a:ln>
            <a:effectLst/>
          </c:spPr>
          <c:invertIfNegative val="0"/>
          <c:cat>
            <c:strRef>
              <c:f>Analysis!$A$33:$A$38</c:f>
              <c:strCache>
                <c:ptCount val="5"/>
                <c:pt idx="0">
                  <c:v>Supplier 1</c:v>
                </c:pt>
                <c:pt idx="1">
                  <c:v>Supplier 2</c:v>
                </c:pt>
                <c:pt idx="2">
                  <c:v>Supplier 3</c:v>
                </c:pt>
                <c:pt idx="3">
                  <c:v>Supplier 4</c:v>
                </c:pt>
                <c:pt idx="4">
                  <c:v>Supplier 5</c:v>
                </c:pt>
              </c:strCache>
            </c:strRef>
          </c:cat>
          <c:val>
            <c:numRef>
              <c:f>Analysis!$B$33:$B$38</c:f>
              <c:numCache>
                <c:formatCode>0.0000</c:formatCode>
                <c:ptCount val="5"/>
                <c:pt idx="0">
                  <c:v>2.7996253694302329</c:v>
                </c:pt>
                <c:pt idx="1">
                  <c:v>2.6000047144500003</c:v>
                </c:pt>
                <c:pt idx="2">
                  <c:v>2.7222198359203529</c:v>
                </c:pt>
                <c:pt idx="3">
                  <c:v>2.3540339976666678</c:v>
                </c:pt>
                <c:pt idx="4">
                  <c:v>2.5261553421111107</c:v>
                </c:pt>
              </c:numCache>
            </c:numRef>
          </c:val>
          <c:extLst>
            <c:ext xmlns:c16="http://schemas.microsoft.com/office/drawing/2014/chart" uri="{C3380CC4-5D6E-409C-BE32-E72D297353CC}">
              <c16:uniqueId val="{00000000-A358-44E6-A165-7AF3CA6D4DB5}"/>
            </c:ext>
          </c:extLst>
        </c:ser>
        <c:ser>
          <c:idx val="1"/>
          <c:order val="1"/>
          <c:tx>
            <c:strRef>
              <c:f>Analysis!$C$32</c:f>
              <c:strCache>
                <c:ptCount val="1"/>
                <c:pt idx="0">
                  <c:v>Average of Manufacturing lead time</c:v>
                </c:pt>
              </c:strCache>
            </c:strRef>
          </c:tx>
          <c:invertIfNegative val="0"/>
          <c:cat>
            <c:strRef>
              <c:f>Analysis!$A$33:$A$38</c:f>
              <c:strCache>
                <c:ptCount val="5"/>
                <c:pt idx="0">
                  <c:v>Supplier 1</c:v>
                </c:pt>
                <c:pt idx="1">
                  <c:v>Supplier 2</c:v>
                </c:pt>
                <c:pt idx="2">
                  <c:v>Supplier 3</c:v>
                </c:pt>
                <c:pt idx="3">
                  <c:v>Supplier 4</c:v>
                </c:pt>
                <c:pt idx="4">
                  <c:v>Supplier 5</c:v>
                </c:pt>
              </c:strCache>
            </c:strRef>
          </c:cat>
          <c:val>
            <c:numRef>
              <c:f>Analysis!$C$33:$C$38</c:f>
              <c:numCache>
                <c:formatCode>General</c:formatCode>
                <c:ptCount val="5"/>
                <c:pt idx="0">
                  <c:v>14.732558139534884</c:v>
                </c:pt>
                <c:pt idx="1">
                  <c:v>14.2</c:v>
                </c:pt>
                <c:pt idx="2">
                  <c:v>14.486725663716815</c:v>
                </c:pt>
                <c:pt idx="3">
                  <c:v>16.345238095238095</c:v>
                </c:pt>
                <c:pt idx="4">
                  <c:v>14.6</c:v>
                </c:pt>
              </c:numCache>
            </c:numRef>
          </c:val>
          <c:extLst>
            <c:ext xmlns:c16="http://schemas.microsoft.com/office/drawing/2014/chart" uri="{C3380CC4-5D6E-409C-BE32-E72D297353CC}">
              <c16:uniqueId val="{00000001-A358-44E6-A165-7AF3CA6D4DB5}"/>
            </c:ext>
          </c:extLst>
        </c:ser>
        <c:dLbls>
          <c:showLegendKey val="0"/>
          <c:showVal val="0"/>
          <c:showCatName val="0"/>
          <c:showSerName val="0"/>
          <c:showPercent val="0"/>
          <c:showBubbleSize val="0"/>
        </c:dLbls>
        <c:gapWidth val="326"/>
        <c:overlap val="-58"/>
        <c:axId val="253257103"/>
        <c:axId val="60966095"/>
      </c:barChart>
      <c:catAx>
        <c:axId val="253257103"/>
        <c:scaling>
          <c:orientation val="minMax"/>
        </c:scaling>
        <c:delete val="0"/>
        <c:axPos val="l"/>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966095"/>
        <c:crosses val="autoZero"/>
        <c:auto val="1"/>
        <c:lblAlgn val="ctr"/>
        <c:lblOffset val="100"/>
        <c:noMultiLvlLbl val="0"/>
      </c:catAx>
      <c:valAx>
        <c:axId val="60966095"/>
        <c:scaling>
          <c:orientation val="minMax"/>
        </c:scaling>
        <c:delete val="0"/>
        <c:axPos val="b"/>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53257103"/>
        <c:crosses val="autoZero"/>
        <c:crossBetween val="between"/>
      </c:valAx>
    </c:plotArea>
    <c:legend>
      <c:legendPos val="r"/>
      <c:layout>
        <c:manualLayout>
          <c:xMode val="edge"/>
          <c:yMode val="edge"/>
          <c:x val="0.8460724663117456"/>
          <c:y val="0.44125566412631273"/>
          <c:w val="0.14331333071460611"/>
          <c:h val="0.221222689281766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ln>
      <a:noFill/>
    </a:ln>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[Supply-Chain-Dirty-Dataset.xlsx]Analysis!PivotTable6</c:name>
    <c:fmtId val="29"/>
  </c:pivotSource>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sz="1200" b="1">
                <a:latin typeface="Aptos" panose="020B0004020202020204" pitchFamily="34" charset="0"/>
              </a:rPr>
              <a:t>Profitabilty</a:t>
            </a:r>
            <a:r>
              <a:rPr lang="en-US" sz="1200" b="1" baseline="0">
                <a:latin typeface="Aptos" panose="020B0004020202020204" pitchFamily="34" charset="0"/>
              </a:rPr>
              <a:t> by product in ascending order</a:t>
            </a:r>
            <a:endParaRPr lang="en-US" sz="1200" b="1">
              <a:latin typeface="Aptos" panose="020B0004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ivotFmts>
      <c:pivotFmt>
        <c:idx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circle"/>
          <c:size val="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2883203035932856E-2"/>
          <c:y val="0.17266612619811408"/>
          <c:w val="0.89213452877689081"/>
          <c:h val="0.76384433471295032"/>
        </c:manualLayout>
      </c:layout>
      <c:barChart>
        <c:barDir val="col"/>
        <c:grouping val="clustered"/>
        <c:varyColors val="0"/>
        <c:ser>
          <c:idx val="0"/>
          <c:order val="0"/>
          <c:tx>
            <c:strRef>
              <c:f>Analysis!$B$42</c:f>
              <c:strCache>
                <c:ptCount val="1"/>
                <c:pt idx="0">
                  <c:v>Total</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cat>
            <c:strRef>
              <c:f>Analysis!$A$43:$A$53</c:f>
              <c:strCache>
                <c:ptCount val="10"/>
                <c:pt idx="0">
                  <c:v>SKU198</c:v>
                </c:pt>
                <c:pt idx="1">
                  <c:v>SKU146</c:v>
                </c:pt>
                <c:pt idx="2">
                  <c:v>SKU393</c:v>
                </c:pt>
                <c:pt idx="3">
                  <c:v>SKU208</c:v>
                </c:pt>
                <c:pt idx="4">
                  <c:v>SKU378</c:v>
                </c:pt>
                <c:pt idx="5">
                  <c:v>SKU275</c:v>
                </c:pt>
                <c:pt idx="6">
                  <c:v>SKU40</c:v>
                </c:pt>
                <c:pt idx="7">
                  <c:v>SKU223</c:v>
                </c:pt>
                <c:pt idx="8">
                  <c:v>SKU43</c:v>
                </c:pt>
                <c:pt idx="9">
                  <c:v>SKU267</c:v>
                </c:pt>
              </c:strCache>
            </c:strRef>
          </c:cat>
          <c:val>
            <c:numRef>
              <c:f>Analysis!$B$43:$B$53</c:f>
              <c:numCache>
                <c:formatCode>0.000</c:formatCode>
                <c:ptCount val="10"/>
                <c:pt idx="0">
                  <c:v>976.02035283400005</c:v>
                </c:pt>
                <c:pt idx="1">
                  <c:v>968.79876385199998</c:v>
                </c:pt>
                <c:pt idx="2">
                  <c:v>960.14858457299999</c:v>
                </c:pt>
                <c:pt idx="3">
                  <c:v>956.35533908399998</c:v>
                </c:pt>
                <c:pt idx="4">
                  <c:v>948.35676173999991</c:v>
                </c:pt>
                <c:pt idx="5">
                  <c:v>945.72638379600005</c:v>
                </c:pt>
                <c:pt idx="6">
                  <c:v>944.76048504100004</c:v>
                </c:pt>
                <c:pt idx="7">
                  <c:v>939.72146825400011</c:v>
                </c:pt>
                <c:pt idx="8">
                  <c:v>929.50840539300009</c:v>
                </c:pt>
                <c:pt idx="9">
                  <c:v>929.40765167300003</c:v>
                </c:pt>
              </c:numCache>
            </c:numRef>
          </c:val>
          <c:extLst>
            <c:ext xmlns:c16="http://schemas.microsoft.com/office/drawing/2014/chart" uri="{C3380CC4-5D6E-409C-BE32-E72D297353CC}">
              <c16:uniqueId val="{00000000-195B-4B09-A821-04FA20AA9370}"/>
            </c:ext>
          </c:extLst>
        </c:ser>
        <c:dLbls>
          <c:showLegendKey val="0"/>
          <c:showVal val="0"/>
          <c:showCatName val="0"/>
          <c:showSerName val="0"/>
          <c:showPercent val="0"/>
          <c:showBubbleSize val="0"/>
        </c:dLbls>
        <c:gapWidth val="100"/>
        <c:overlap val="-24"/>
        <c:axId val="2112324447"/>
        <c:axId val="2091211631"/>
      </c:barChart>
      <c:catAx>
        <c:axId val="2112324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2091211631"/>
        <c:crosses val="autoZero"/>
        <c:auto val="1"/>
        <c:lblAlgn val="ctr"/>
        <c:lblOffset val="100"/>
        <c:noMultiLvlLbl val="0"/>
      </c:catAx>
      <c:valAx>
        <c:axId val="2091211631"/>
        <c:scaling>
          <c:orientation val="minMax"/>
        </c:scaling>
        <c:delete val="0"/>
        <c:axPos val="l"/>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21123244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[Supply-Chain-Dirty-Dataset.xlsx]Analysis!PivotTable8</c:name>
    <c:fmtId val="31"/>
  </c:pivotSource>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sz="1200" b="1" i="0" u="none" strike="noStrike" kern="1200" cap="none" spc="20" baseline="0">
                <a:solidFill>
                  <a:srgbClr val="000000">
                    <a:lumMod val="50000"/>
                    <a:lumOff val="50000"/>
                  </a:srgbClr>
                </a:solidFill>
                <a:latin typeface="Aptos" panose="020B0004020202020204" pitchFamily="34" charset="0"/>
              </a:rPr>
              <a:t>Profitabilty by product in descending order</a:t>
            </a:r>
            <a:endParaRPr lang="en-US" sz="1200" b="1">
              <a:latin typeface="Aptos" panose="020B0004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ivotFmts>
      <c:pivotFmt>
        <c:idx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circle"/>
          <c:size val="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Analysis!$B$57</c:f>
              <c:strCache>
                <c:ptCount val="1"/>
                <c:pt idx="0">
                  <c:v>Total</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cat>
            <c:strRef>
              <c:f>Analysis!$A$58:$A$68</c:f>
              <c:strCache>
                <c:ptCount val="10"/>
                <c:pt idx="0">
                  <c:v>SKU167</c:v>
                </c:pt>
                <c:pt idx="1">
                  <c:v>SKU169</c:v>
                </c:pt>
                <c:pt idx="2">
                  <c:v>SKU177</c:v>
                </c:pt>
                <c:pt idx="3">
                  <c:v>SKU184</c:v>
                </c:pt>
                <c:pt idx="4">
                  <c:v>SKU271</c:v>
                </c:pt>
                <c:pt idx="5">
                  <c:v>SKU299</c:v>
                </c:pt>
                <c:pt idx="6">
                  <c:v>SKU347</c:v>
                </c:pt>
                <c:pt idx="7">
                  <c:v>SKU371</c:v>
                </c:pt>
                <c:pt idx="8">
                  <c:v>SKU5</c:v>
                </c:pt>
                <c:pt idx="9">
                  <c:v>SKU61</c:v>
                </c:pt>
              </c:strCache>
            </c:strRef>
          </c:cat>
          <c:val>
            <c:numRef>
              <c:f>Analysis!$B$58:$B$68</c:f>
              <c:numCache>
                <c:formatCode>0.000</c:formatCode>
                <c:ptCount val="10"/>
                <c:pt idx="0">
                  <c:v>35.763232395999992</c:v>
                </c:pt>
                <c:pt idx="1">
                  <c:v>29.599826192000009</c:v>
                </c:pt>
                <c:pt idx="2">
                  <c:v>56.525176751000018</c:v>
                </c:pt>
                <c:pt idx="3">
                  <c:v>15.620342644999994</c:v>
                </c:pt>
                <c:pt idx="4">
                  <c:v>31.963765433999995</c:v>
                </c:pt>
                <c:pt idx="5">
                  <c:v>29.637530827999996</c:v>
                </c:pt>
                <c:pt idx="6">
                  <c:v>57.265953816999989</c:v>
                </c:pt>
                <c:pt idx="7">
                  <c:v>46.896082501999999</c:v>
                </c:pt>
                <c:pt idx="8">
                  <c:v>32.672640130999994</c:v>
                </c:pt>
                <c:pt idx="9">
                  <c:v>10.080273851000001</c:v>
                </c:pt>
              </c:numCache>
            </c:numRef>
          </c:val>
          <c:extLst>
            <c:ext xmlns:c16="http://schemas.microsoft.com/office/drawing/2014/chart" uri="{C3380CC4-5D6E-409C-BE32-E72D297353CC}">
              <c16:uniqueId val="{00000000-112C-4FD3-ADB1-1EB261643CB1}"/>
            </c:ext>
          </c:extLst>
        </c:ser>
        <c:dLbls>
          <c:showLegendKey val="0"/>
          <c:showVal val="0"/>
          <c:showCatName val="0"/>
          <c:showSerName val="0"/>
          <c:showPercent val="0"/>
          <c:showBubbleSize val="0"/>
        </c:dLbls>
        <c:gapWidth val="100"/>
        <c:overlap val="-24"/>
        <c:axId val="459589871"/>
        <c:axId val="2091359951"/>
      </c:barChart>
      <c:catAx>
        <c:axId val="45958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2091359951"/>
        <c:crosses val="autoZero"/>
        <c:auto val="1"/>
        <c:lblAlgn val="ctr"/>
        <c:lblOffset val="100"/>
        <c:noMultiLvlLbl val="0"/>
      </c:catAx>
      <c:valAx>
        <c:axId val="2091359951"/>
        <c:scaling>
          <c:orientation val="minMax"/>
        </c:scaling>
        <c:delete val="0"/>
        <c:axPos val="l"/>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45958987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[Supply-Chain-Dirty-Dataset.xlsx]Analysis!PivotTable9</c:name>
    <c:fmtId val="36"/>
  </c:pivotSource>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sz="1200" b="1">
                <a:latin typeface="Aptos" panose="020B0004020202020204" pitchFamily="34" charset="0"/>
              </a:rPr>
              <a:t>Correlation between transportation mode and shipping cost</a:t>
            </a:r>
          </a:p>
        </c:rich>
      </c:tx>
      <c:layout>
        <c:manualLayout>
          <c:xMode val="edge"/>
          <c:yMode val="edge"/>
          <c:x val="0.22066037646359918"/>
          <c:y val="1.974877231591448E-2"/>
        </c:manualLayout>
      </c:layout>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ivotFmts>
      <c:pivotFmt>
        <c:idx val="0"/>
      </c:pivotFmt>
      <c:pivotFmt>
        <c:idx val="1"/>
      </c:pivotFmt>
      <c:pivotFmt>
        <c:idx val="2"/>
      </c:pivotFmt>
      <c:pivotFmt>
        <c:idx val="3"/>
      </c:pivotFmt>
      <c:pivotFmt>
        <c:idx val="4"/>
      </c:pivotFmt>
      <c:pivotFmt>
        <c:idx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circle"/>
          <c:size val="4"/>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7"/>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pivotFmt>
      <c:pivotFmt>
        <c:idx val="8"/>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9525" cap="flat" cmpd="sng" algn="ctr">
            <a:solidFill>
              <a:schemeClr val="accent3">
                <a:shade val="95000"/>
              </a:schemeClr>
            </a:solidFill>
            <a:round/>
          </a:ln>
          <a:effectLst/>
        </c:spPr>
      </c:pivotFmt>
      <c:pivotFmt>
        <c:idx val="9"/>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1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1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13"/>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1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16"/>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17"/>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19"/>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2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2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23"/>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
        <c:idx val="24"/>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pivotFmt>
    </c:pivotFmts>
    <c:plotArea>
      <c:layout/>
      <c:doughnutChart>
        <c:varyColors val="1"/>
        <c:ser>
          <c:idx val="0"/>
          <c:order val="0"/>
          <c:tx>
            <c:strRef>
              <c:f>Analysis!$B$74</c:f>
              <c:strCache>
                <c:ptCount val="1"/>
                <c:pt idx="0">
                  <c:v>Total</c:v>
                </c:pt>
              </c:strCache>
            </c:strRef>
          </c:tx>
          <c:dPt>
            <c:idx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extLst>
              <c:ext xmlns:c16="http://schemas.microsoft.com/office/drawing/2014/chart" uri="{C3380CC4-5D6E-409C-BE32-E72D297353CC}">
                <c16:uniqueId val="{00000001-E19A-4B64-A453-7DDCAE75B1CD}"/>
              </c:ext>
            </c:extLst>
          </c:dPt>
          <c:dPt>
            <c:idx val="1"/>
            <c:bubble3D val="0"/>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extLst>
              <c:ext xmlns:c16="http://schemas.microsoft.com/office/drawing/2014/chart" uri="{C3380CC4-5D6E-409C-BE32-E72D297353CC}">
                <c16:uniqueId val="{00000003-E19A-4B64-A453-7DDCAE75B1CD}"/>
              </c:ext>
            </c:extLst>
          </c:dPt>
          <c:dPt>
            <c:idx val="2"/>
            <c:bubble3D val="0"/>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9525" cap="flat" cmpd="sng" algn="ctr">
                <a:solidFill>
                  <a:schemeClr val="accent3">
                    <a:shade val="95000"/>
                  </a:schemeClr>
                </a:solidFill>
                <a:round/>
              </a:ln>
              <a:effectLst/>
            </c:spPr>
            <c:extLst>
              <c:ext xmlns:c16="http://schemas.microsoft.com/office/drawing/2014/chart" uri="{C3380CC4-5D6E-409C-BE32-E72D297353CC}">
                <c16:uniqueId val="{00000005-E19A-4B64-A453-7DDCAE75B1CD}"/>
              </c:ext>
            </c:extLst>
          </c:dPt>
          <c:cat>
            <c:strRef>
              <c:f>Analysis!$A$75:$A$78</c:f>
              <c:strCache>
                <c:ptCount val="3"/>
                <c:pt idx="0">
                  <c:v>Air</c:v>
                </c:pt>
                <c:pt idx="1">
                  <c:v>Rail</c:v>
                </c:pt>
                <c:pt idx="2">
                  <c:v>Road</c:v>
                </c:pt>
              </c:strCache>
            </c:strRef>
          </c:cat>
          <c:val>
            <c:numRef>
              <c:f>Analysis!$B$75:$B$78</c:f>
              <c:numCache>
                <c:formatCode>0.000</c:formatCode>
                <c:ptCount val="3"/>
                <c:pt idx="0">
                  <c:v>1030.2988372989998</c:v>
                </c:pt>
                <c:pt idx="1">
                  <c:v>816.96999200300013</c:v>
                </c:pt>
                <c:pt idx="2">
                  <c:v>824.91903848199991</c:v>
                </c:pt>
              </c:numCache>
            </c:numRef>
          </c:val>
          <c:extLst>
            <c:ext xmlns:c16="http://schemas.microsoft.com/office/drawing/2014/chart" uri="{C3380CC4-5D6E-409C-BE32-E72D297353CC}">
              <c16:uniqueId val="{00000006-E19A-4B64-A453-7DDCAE75B1CD}"/>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CC0424-0570-46D7-A8C0-FADEC41C9DF6}"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395CF954-C1DD-4AA2-BBB3-20348EB534FB}">
      <dgm:prSet/>
      <dgm:spPr/>
      <dgm:t>
        <a:bodyPr/>
        <a:lstStyle/>
        <a:p>
          <a:r>
            <a:rPr lang="en-US"/>
            <a:t>Stockouts</a:t>
          </a:r>
        </a:p>
      </dgm:t>
    </dgm:pt>
    <dgm:pt modelId="{BB9F9B5C-B88F-4C0B-BCA8-743D7264955C}" type="parTrans" cxnId="{64D7E1C1-A11A-4063-806E-F46BF25D7102}">
      <dgm:prSet/>
      <dgm:spPr/>
      <dgm:t>
        <a:bodyPr/>
        <a:lstStyle/>
        <a:p>
          <a:endParaRPr lang="en-US"/>
        </a:p>
      </dgm:t>
    </dgm:pt>
    <dgm:pt modelId="{3F92B7BA-D0F4-4A84-963F-5ACB34E3DFDB}" type="sibTrans" cxnId="{64D7E1C1-A11A-4063-806E-F46BF25D7102}">
      <dgm:prSet/>
      <dgm:spPr/>
      <dgm:t>
        <a:bodyPr/>
        <a:lstStyle/>
        <a:p>
          <a:endParaRPr lang="en-US"/>
        </a:p>
      </dgm:t>
    </dgm:pt>
    <dgm:pt modelId="{CB872231-6F0A-4A81-A9FE-A42EB57C6787}">
      <dgm:prSet/>
      <dgm:spPr/>
      <dgm:t>
        <a:bodyPr/>
        <a:lstStyle/>
        <a:p>
          <a:r>
            <a:rPr lang="en-US"/>
            <a:t>Defective Products</a:t>
          </a:r>
        </a:p>
      </dgm:t>
    </dgm:pt>
    <dgm:pt modelId="{FF71826B-8BFA-4D44-8EAF-6BF8F3303838}" type="parTrans" cxnId="{00E34827-D122-41CB-B72A-625BDBB797E2}">
      <dgm:prSet/>
      <dgm:spPr/>
      <dgm:t>
        <a:bodyPr/>
        <a:lstStyle/>
        <a:p>
          <a:endParaRPr lang="en-US"/>
        </a:p>
      </dgm:t>
    </dgm:pt>
    <dgm:pt modelId="{53857AA4-DC4B-4E45-9517-23DB3CCB715E}" type="sibTrans" cxnId="{00E34827-D122-41CB-B72A-625BDBB797E2}">
      <dgm:prSet/>
      <dgm:spPr/>
      <dgm:t>
        <a:bodyPr/>
        <a:lstStyle/>
        <a:p>
          <a:endParaRPr lang="en-US"/>
        </a:p>
      </dgm:t>
    </dgm:pt>
    <dgm:pt modelId="{559C1E93-D7DC-482A-8FFF-DD0A5EBA8B14}">
      <dgm:prSet/>
      <dgm:spPr/>
      <dgm:t>
        <a:bodyPr/>
        <a:lstStyle/>
        <a:p>
          <a:r>
            <a:rPr lang="en-US"/>
            <a:t>Delivery Delays</a:t>
          </a:r>
        </a:p>
      </dgm:t>
    </dgm:pt>
    <dgm:pt modelId="{9D56DC71-72F6-477E-B090-E7831EB9F40A}" type="parTrans" cxnId="{35082E49-A669-4A00-81B8-1B8E32A387C9}">
      <dgm:prSet/>
      <dgm:spPr/>
      <dgm:t>
        <a:bodyPr/>
        <a:lstStyle/>
        <a:p>
          <a:endParaRPr lang="en-US"/>
        </a:p>
      </dgm:t>
    </dgm:pt>
    <dgm:pt modelId="{1D9AA365-0A81-436A-B369-C86932176618}" type="sibTrans" cxnId="{35082E49-A669-4A00-81B8-1B8E32A387C9}">
      <dgm:prSet/>
      <dgm:spPr/>
      <dgm:t>
        <a:bodyPr/>
        <a:lstStyle/>
        <a:p>
          <a:endParaRPr lang="en-US"/>
        </a:p>
      </dgm:t>
    </dgm:pt>
    <dgm:pt modelId="{9096047F-04AD-4FC0-AA62-71649BE252D1}">
      <dgm:prSet/>
      <dgm:spPr/>
      <dgm:t>
        <a:bodyPr/>
        <a:lstStyle/>
        <a:p>
          <a:r>
            <a:rPr lang="en-US"/>
            <a:t>Increase in the shipping and manufacturing costs</a:t>
          </a:r>
        </a:p>
      </dgm:t>
    </dgm:pt>
    <dgm:pt modelId="{490A599D-DDC1-4DD9-85C9-776D2F884D02}" type="parTrans" cxnId="{AD450304-3C36-4285-9E09-707963B292B3}">
      <dgm:prSet/>
      <dgm:spPr/>
      <dgm:t>
        <a:bodyPr/>
        <a:lstStyle/>
        <a:p>
          <a:endParaRPr lang="en-US"/>
        </a:p>
      </dgm:t>
    </dgm:pt>
    <dgm:pt modelId="{F72C54B2-1E07-4DE9-AAB3-D8B48ED47464}" type="sibTrans" cxnId="{AD450304-3C36-4285-9E09-707963B292B3}">
      <dgm:prSet/>
      <dgm:spPr/>
      <dgm:t>
        <a:bodyPr/>
        <a:lstStyle/>
        <a:p>
          <a:endParaRPr lang="en-US"/>
        </a:p>
      </dgm:t>
    </dgm:pt>
    <dgm:pt modelId="{571DB53A-22B6-4DB4-8158-228D2D2EA01E}" type="pres">
      <dgm:prSet presAssocID="{2ACC0424-0570-46D7-A8C0-FADEC41C9DF6}" presName="linear" presStyleCnt="0">
        <dgm:presLayoutVars>
          <dgm:animLvl val="lvl"/>
          <dgm:resizeHandles val="exact"/>
        </dgm:presLayoutVars>
      </dgm:prSet>
      <dgm:spPr/>
    </dgm:pt>
    <dgm:pt modelId="{CA0D3321-D4AE-4F2D-A512-A06AAEF1DCEA}" type="pres">
      <dgm:prSet presAssocID="{395CF954-C1DD-4AA2-BBB3-20348EB534FB}" presName="parentText" presStyleLbl="node1" presStyleIdx="0" presStyleCnt="4">
        <dgm:presLayoutVars>
          <dgm:chMax val="0"/>
          <dgm:bulletEnabled val="1"/>
        </dgm:presLayoutVars>
      </dgm:prSet>
      <dgm:spPr/>
    </dgm:pt>
    <dgm:pt modelId="{E4948113-1719-45A8-AD2F-B3B38926DB65}" type="pres">
      <dgm:prSet presAssocID="{3F92B7BA-D0F4-4A84-963F-5ACB34E3DFDB}" presName="spacer" presStyleCnt="0"/>
      <dgm:spPr/>
    </dgm:pt>
    <dgm:pt modelId="{AE6F5FD5-5D66-40A4-B952-8D8EDE67EEB5}" type="pres">
      <dgm:prSet presAssocID="{CB872231-6F0A-4A81-A9FE-A42EB57C6787}" presName="parentText" presStyleLbl="node1" presStyleIdx="1" presStyleCnt="4">
        <dgm:presLayoutVars>
          <dgm:chMax val="0"/>
          <dgm:bulletEnabled val="1"/>
        </dgm:presLayoutVars>
      </dgm:prSet>
      <dgm:spPr/>
    </dgm:pt>
    <dgm:pt modelId="{E3F181E4-133B-4F74-98A1-8B8C11749516}" type="pres">
      <dgm:prSet presAssocID="{53857AA4-DC4B-4E45-9517-23DB3CCB715E}" presName="spacer" presStyleCnt="0"/>
      <dgm:spPr/>
    </dgm:pt>
    <dgm:pt modelId="{BAEC107D-9929-4DFF-BEFE-691636A8CC52}" type="pres">
      <dgm:prSet presAssocID="{559C1E93-D7DC-482A-8FFF-DD0A5EBA8B14}" presName="parentText" presStyleLbl="node1" presStyleIdx="2" presStyleCnt="4">
        <dgm:presLayoutVars>
          <dgm:chMax val="0"/>
          <dgm:bulletEnabled val="1"/>
        </dgm:presLayoutVars>
      </dgm:prSet>
      <dgm:spPr/>
    </dgm:pt>
    <dgm:pt modelId="{35D15562-DB9B-4AE8-AB9B-4D079D8E9AD7}" type="pres">
      <dgm:prSet presAssocID="{1D9AA365-0A81-436A-B369-C86932176618}" presName="spacer" presStyleCnt="0"/>
      <dgm:spPr/>
    </dgm:pt>
    <dgm:pt modelId="{AA135BBF-E23A-4B96-9E66-03653A5A7819}" type="pres">
      <dgm:prSet presAssocID="{9096047F-04AD-4FC0-AA62-71649BE252D1}" presName="parentText" presStyleLbl="node1" presStyleIdx="3" presStyleCnt="4">
        <dgm:presLayoutVars>
          <dgm:chMax val="0"/>
          <dgm:bulletEnabled val="1"/>
        </dgm:presLayoutVars>
      </dgm:prSet>
      <dgm:spPr/>
    </dgm:pt>
  </dgm:ptLst>
  <dgm:cxnLst>
    <dgm:cxn modelId="{AD450304-3C36-4285-9E09-707963B292B3}" srcId="{2ACC0424-0570-46D7-A8C0-FADEC41C9DF6}" destId="{9096047F-04AD-4FC0-AA62-71649BE252D1}" srcOrd="3" destOrd="0" parTransId="{490A599D-DDC1-4DD9-85C9-776D2F884D02}" sibTransId="{F72C54B2-1E07-4DE9-AAB3-D8B48ED47464}"/>
    <dgm:cxn modelId="{715B310A-0291-48AF-BA44-16D1AC9D4014}" type="presOf" srcId="{9096047F-04AD-4FC0-AA62-71649BE252D1}" destId="{AA135BBF-E23A-4B96-9E66-03653A5A7819}" srcOrd="0" destOrd="0" presId="urn:microsoft.com/office/officeart/2005/8/layout/vList2"/>
    <dgm:cxn modelId="{00E34827-D122-41CB-B72A-625BDBB797E2}" srcId="{2ACC0424-0570-46D7-A8C0-FADEC41C9DF6}" destId="{CB872231-6F0A-4A81-A9FE-A42EB57C6787}" srcOrd="1" destOrd="0" parTransId="{FF71826B-8BFA-4D44-8EAF-6BF8F3303838}" sibTransId="{53857AA4-DC4B-4E45-9517-23DB3CCB715E}"/>
    <dgm:cxn modelId="{285C322E-3B02-4142-8B78-AAE6213B37B7}" type="presOf" srcId="{2ACC0424-0570-46D7-A8C0-FADEC41C9DF6}" destId="{571DB53A-22B6-4DB4-8158-228D2D2EA01E}" srcOrd="0" destOrd="0" presId="urn:microsoft.com/office/officeart/2005/8/layout/vList2"/>
    <dgm:cxn modelId="{A1D5BE42-0B49-47CD-BFFF-F2A2A10387E4}" type="presOf" srcId="{CB872231-6F0A-4A81-A9FE-A42EB57C6787}" destId="{AE6F5FD5-5D66-40A4-B952-8D8EDE67EEB5}" srcOrd="0" destOrd="0" presId="urn:microsoft.com/office/officeart/2005/8/layout/vList2"/>
    <dgm:cxn modelId="{35082E49-A669-4A00-81B8-1B8E32A387C9}" srcId="{2ACC0424-0570-46D7-A8C0-FADEC41C9DF6}" destId="{559C1E93-D7DC-482A-8FFF-DD0A5EBA8B14}" srcOrd="2" destOrd="0" parTransId="{9D56DC71-72F6-477E-B090-E7831EB9F40A}" sibTransId="{1D9AA365-0A81-436A-B369-C86932176618}"/>
    <dgm:cxn modelId="{64D7E1C1-A11A-4063-806E-F46BF25D7102}" srcId="{2ACC0424-0570-46D7-A8C0-FADEC41C9DF6}" destId="{395CF954-C1DD-4AA2-BBB3-20348EB534FB}" srcOrd="0" destOrd="0" parTransId="{BB9F9B5C-B88F-4C0B-BCA8-743D7264955C}" sibTransId="{3F92B7BA-D0F4-4A84-963F-5ACB34E3DFDB}"/>
    <dgm:cxn modelId="{5A9071C3-32EF-4F5F-AAFF-846AB818B6D4}" type="presOf" srcId="{395CF954-C1DD-4AA2-BBB3-20348EB534FB}" destId="{CA0D3321-D4AE-4F2D-A512-A06AAEF1DCEA}" srcOrd="0" destOrd="0" presId="urn:microsoft.com/office/officeart/2005/8/layout/vList2"/>
    <dgm:cxn modelId="{7DF9F5E1-0A25-4235-8386-75456165B141}" type="presOf" srcId="{559C1E93-D7DC-482A-8FFF-DD0A5EBA8B14}" destId="{BAEC107D-9929-4DFF-BEFE-691636A8CC52}" srcOrd="0" destOrd="0" presId="urn:microsoft.com/office/officeart/2005/8/layout/vList2"/>
    <dgm:cxn modelId="{708891C0-6273-460F-9F5E-8C352DB305B3}" type="presParOf" srcId="{571DB53A-22B6-4DB4-8158-228D2D2EA01E}" destId="{CA0D3321-D4AE-4F2D-A512-A06AAEF1DCEA}" srcOrd="0" destOrd="0" presId="urn:microsoft.com/office/officeart/2005/8/layout/vList2"/>
    <dgm:cxn modelId="{96BC2C48-40B7-48D4-9551-566D06ECFE8F}" type="presParOf" srcId="{571DB53A-22B6-4DB4-8158-228D2D2EA01E}" destId="{E4948113-1719-45A8-AD2F-B3B38926DB65}" srcOrd="1" destOrd="0" presId="urn:microsoft.com/office/officeart/2005/8/layout/vList2"/>
    <dgm:cxn modelId="{A876AD8D-8F40-415D-BD1D-30D5F14C22B5}" type="presParOf" srcId="{571DB53A-22B6-4DB4-8158-228D2D2EA01E}" destId="{AE6F5FD5-5D66-40A4-B952-8D8EDE67EEB5}" srcOrd="2" destOrd="0" presId="urn:microsoft.com/office/officeart/2005/8/layout/vList2"/>
    <dgm:cxn modelId="{B16F02A2-CB0F-440A-92CC-69EFA843C079}" type="presParOf" srcId="{571DB53A-22B6-4DB4-8158-228D2D2EA01E}" destId="{E3F181E4-133B-4F74-98A1-8B8C11749516}" srcOrd="3" destOrd="0" presId="urn:microsoft.com/office/officeart/2005/8/layout/vList2"/>
    <dgm:cxn modelId="{BD6F66B7-20A1-4338-9B97-A2F06EE427AB}" type="presParOf" srcId="{571DB53A-22B6-4DB4-8158-228D2D2EA01E}" destId="{BAEC107D-9929-4DFF-BEFE-691636A8CC52}" srcOrd="4" destOrd="0" presId="urn:microsoft.com/office/officeart/2005/8/layout/vList2"/>
    <dgm:cxn modelId="{C968421E-A995-43F4-9564-B7ED287EB2C3}" type="presParOf" srcId="{571DB53A-22B6-4DB4-8158-228D2D2EA01E}" destId="{35D15562-DB9B-4AE8-AB9B-4D079D8E9AD7}" srcOrd="5" destOrd="0" presId="urn:microsoft.com/office/officeart/2005/8/layout/vList2"/>
    <dgm:cxn modelId="{DF720CA2-ACB1-4520-BDA0-64ACC6D10FCC}" type="presParOf" srcId="{571DB53A-22B6-4DB4-8158-228D2D2EA01E}" destId="{AA135BBF-E23A-4B96-9E66-03653A5A781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31BECB9-17B2-485F-AEE5-47F5BE02AE7E}"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D0B71B69-4F0F-4A82-8C35-EA69E13F8039}">
      <dgm:prSet/>
      <dgm:spPr/>
      <dgm:t>
        <a:bodyPr/>
        <a:lstStyle/>
        <a:p>
          <a:r>
            <a:rPr lang="en-US" dirty="0"/>
            <a:t>Total Product : </a:t>
          </a:r>
          <a:r>
            <a:rPr lang="en-US" dirty="0">
              <a:latin typeface="Dosis" panose="020F0502020204030204" pitchFamily="2" charset="0"/>
            </a:rPr>
            <a:t> $</a:t>
          </a:r>
          <a:r>
            <a:rPr lang="en-US" dirty="0"/>
            <a:t>448</a:t>
          </a:r>
        </a:p>
      </dgm:t>
    </dgm:pt>
    <dgm:pt modelId="{ADC00ADB-D239-4635-80F0-576CDFF6DE53}" type="parTrans" cxnId="{03BFD14B-695B-49E0-931E-1D6BB15E5839}">
      <dgm:prSet/>
      <dgm:spPr/>
      <dgm:t>
        <a:bodyPr/>
        <a:lstStyle/>
        <a:p>
          <a:endParaRPr lang="en-US"/>
        </a:p>
      </dgm:t>
    </dgm:pt>
    <dgm:pt modelId="{41941C0C-C4D7-4231-9C61-93071AD86571}" type="sibTrans" cxnId="{03BFD14B-695B-49E0-931E-1D6BB15E5839}">
      <dgm:prSet/>
      <dgm:spPr/>
      <dgm:t>
        <a:bodyPr/>
        <a:lstStyle/>
        <a:p>
          <a:endParaRPr lang="en-US"/>
        </a:p>
      </dgm:t>
    </dgm:pt>
    <dgm:pt modelId="{46537FEC-AFBF-46C4-8ED7-41B6AC20E998}">
      <dgm:prSet/>
      <dgm:spPr/>
      <dgm:t>
        <a:bodyPr/>
        <a:lstStyle/>
        <a:p>
          <a:r>
            <a:rPr lang="en-US" dirty="0"/>
            <a:t>Shipping Cost: </a:t>
          </a:r>
          <a:r>
            <a:rPr lang="en-US" dirty="0">
              <a:latin typeface="Dosis" panose="020F0502020204030204" pitchFamily="2" charset="0"/>
            </a:rPr>
            <a:t>$</a:t>
          </a:r>
          <a:r>
            <a:rPr lang="en-US" dirty="0"/>
            <a:t>2,672.185</a:t>
          </a:r>
        </a:p>
      </dgm:t>
    </dgm:pt>
    <dgm:pt modelId="{2DE1E06F-A771-47E2-922F-E2ABCEE680B3}" type="parTrans" cxnId="{F0E8D862-5D86-4100-90C0-618EF87ACF31}">
      <dgm:prSet/>
      <dgm:spPr/>
      <dgm:t>
        <a:bodyPr/>
        <a:lstStyle/>
        <a:p>
          <a:endParaRPr lang="en-US"/>
        </a:p>
      </dgm:t>
    </dgm:pt>
    <dgm:pt modelId="{B247EB84-DE7C-47DB-9DE8-D4FDB2797873}" type="sibTrans" cxnId="{F0E8D862-5D86-4100-90C0-618EF87ACF31}">
      <dgm:prSet/>
      <dgm:spPr/>
      <dgm:t>
        <a:bodyPr/>
        <a:lstStyle/>
        <a:p>
          <a:endParaRPr lang="en-US"/>
        </a:p>
      </dgm:t>
    </dgm:pt>
    <dgm:pt modelId="{351BAF05-6490-47E2-93AF-D28DE40E1984}">
      <dgm:prSet/>
      <dgm:spPr/>
      <dgm:t>
        <a:bodyPr/>
        <a:lstStyle/>
        <a:p>
          <a:r>
            <a:rPr lang="en-US" dirty="0"/>
            <a:t>Average Manufacturing lead time: </a:t>
          </a:r>
          <a:r>
            <a:rPr lang="en-US" dirty="0">
              <a:latin typeface="Dosis" panose="020F0502020204030204" pitchFamily="2" charset="0"/>
            </a:rPr>
            <a:t>$</a:t>
          </a:r>
          <a:r>
            <a:rPr lang="en-US" dirty="0"/>
            <a:t>14.776</a:t>
          </a:r>
        </a:p>
      </dgm:t>
    </dgm:pt>
    <dgm:pt modelId="{F7477805-B8F1-4731-A372-B0F533F95A3B}" type="parTrans" cxnId="{B97BFB0D-0A79-428F-AFF6-F88A19D8C12C}">
      <dgm:prSet/>
      <dgm:spPr/>
      <dgm:t>
        <a:bodyPr/>
        <a:lstStyle/>
        <a:p>
          <a:endParaRPr lang="en-US"/>
        </a:p>
      </dgm:t>
    </dgm:pt>
    <dgm:pt modelId="{5D68004B-2632-40EA-BD62-FF2266E7358E}" type="sibTrans" cxnId="{B97BFB0D-0A79-428F-AFF6-F88A19D8C12C}">
      <dgm:prSet/>
      <dgm:spPr/>
      <dgm:t>
        <a:bodyPr/>
        <a:lstStyle/>
        <a:p>
          <a:endParaRPr lang="en-US"/>
        </a:p>
      </dgm:t>
    </dgm:pt>
    <dgm:pt modelId="{4E70DC06-2CB1-4C90-B03A-8F12774439C3}">
      <dgm:prSet/>
      <dgm:spPr/>
      <dgm:t>
        <a:bodyPr/>
        <a:lstStyle/>
        <a:p>
          <a:r>
            <a:rPr lang="en-US" dirty="0"/>
            <a:t>Total Profitability: </a:t>
          </a:r>
          <a:r>
            <a:rPr lang="en-US" dirty="0">
              <a:latin typeface="Dosis" panose="020F0502020204030204" pitchFamily="2" charset="0"/>
            </a:rPr>
            <a:t>$</a:t>
          </a:r>
          <a:r>
            <a:rPr lang="en-US" dirty="0"/>
            <a:t>231,929</a:t>
          </a:r>
        </a:p>
      </dgm:t>
    </dgm:pt>
    <dgm:pt modelId="{26173982-7573-4574-9FC6-8A2916D599D4}" type="parTrans" cxnId="{F3BDC32D-7D40-48E2-A9B3-B9185809EA80}">
      <dgm:prSet/>
      <dgm:spPr/>
      <dgm:t>
        <a:bodyPr/>
        <a:lstStyle/>
        <a:p>
          <a:endParaRPr lang="en-US"/>
        </a:p>
      </dgm:t>
    </dgm:pt>
    <dgm:pt modelId="{5D7DCE80-8546-4EDA-910D-8BD167B91877}" type="sibTrans" cxnId="{F3BDC32D-7D40-48E2-A9B3-B9185809EA80}">
      <dgm:prSet/>
      <dgm:spPr/>
      <dgm:t>
        <a:bodyPr/>
        <a:lstStyle/>
        <a:p>
          <a:endParaRPr lang="en-US"/>
        </a:p>
      </dgm:t>
    </dgm:pt>
    <dgm:pt modelId="{54FB8A7C-45CF-49FE-97FE-2E3CAB105A4D}" type="pres">
      <dgm:prSet presAssocID="{931BECB9-17B2-485F-AEE5-47F5BE02AE7E}" presName="matrix" presStyleCnt="0">
        <dgm:presLayoutVars>
          <dgm:chMax val="1"/>
          <dgm:dir/>
          <dgm:resizeHandles val="exact"/>
        </dgm:presLayoutVars>
      </dgm:prSet>
      <dgm:spPr/>
    </dgm:pt>
    <dgm:pt modelId="{B01D9DA7-37C8-4538-8C8C-CF0CA78F7029}" type="pres">
      <dgm:prSet presAssocID="{931BECB9-17B2-485F-AEE5-47F5BE02AE7E}" presName="diamond" presStyleLbl="bgShp" presStyleIdx="0" presStyleCnt="1" custScaleX="159124"/>
      <dgm:spPr/>
    </dgm:pt>
    <dgm:pt modelId="{2AC683C7-9000-437D-9F8B-80BADCCCF280}" type="pres">
      <dgm:prSet presAssocID="{931BECB9-17B2-485F-AEE5-47F5BE02AE7E}" presName="quad1" presStyleLbl="node1" presStyleIdx="0" presStyleCnt="4">
        <dgm:presLayoutVars>
          <dgm:chMax val="0"/>
          <dgm:chPref val="0"/>
          <dgm:bulletEnabled val="1"/>
        </dgm:presLayoutVars>
      </dgm:prSet>
      <dgm:spPr/>
    </dgm:pt>
    <dgm:pt modelId="{39F51F35-653B-4189-8DA4-86F36B02AFAD}" type="pres">
      <dgm:prSet presAssocID="{931BECB9-17B2-485F-AEE5-47F5BE02AE7E}" presName="quad2" presStyleLbl="node1" presStyleIdx="1" presStyleCnt="4">
        <dgm:presLayoutVars>
          <dgm:chMax val="0"/>
          <dgm:chPref val="0"/>
          <dgm:bulletEnabled val="1"/>
        </dgm:presLayoutVars>
      </dgm:prSet>
      <dgm:spPr/>
    </dgm:pt>
    <dgm:pt modelId="{1465784F-6F45-4DF9-976A-D2C4BE02541A}" type="pres">
      <dgm:prSet presAssocID="{931BECB9-17B2-485F-AEE5-47F5BE02AE7E}" presName="quad3" presStyleLbl="node1" presStyleIdx="2" presStyleCnt="4">
        <dgm:presLayoutVars>
          <dgm:chMax val="0"/>
          <dgm:chPref val="0"/>
          <dgm:bulletEnabled val="1"/>
        </dgm:presLayoutVars>
      </dgm:prSet>
      <dgm:spPr/>
    </dgm:pt>
    <dgm:pt modelId="{FEAC42BC-D238-4195-AAF9-4B658E8E4783}" type="pres">
      <dgm:prSet presAssocID="{931BECB9-17B2-485F-AEE5-47F5BE02AE7E}" presName="quad4" presStyleLbl="node1" presStyleIdx="3" presStyleCnt="4" custLinFactNeighborX="917" custLinFactNeighborY="-458">
        <dgm:presLayoutVars>
          <dgm:chMax val="0"/>
          <dgm:chPref val="0"/>
          <dgm:bulletEnabled val="1"/>
        </dgm:presLayoutVars>
      </dgm:prSet>
      <dgm:spPr/>
    </dgm:pt>
  </dgm:ptLst>
  <dgm:cxnLst>
    <dgm:cxn modelId="{B97BFB0D-0A79-428F-AFF6-F88A19D8C12C}" srcId="{931BECB9-17B2-485F-AEE5-47F5BE02AE7E}" destId="{351BAF05-6490-47E2-93AF-D28DE40E1984}" srcOrd="2" destOrd="0" parTransId="{F7477805-B8F1-4731-A372-B0F533F95A3B}" sibTransId="{5D68004B-2632-40EA-BD62-FF2266E7358E}"/>
    <dgm:cxn modelId="{09BDF91A-62C0-47AB-A1BF-446204B6D1EA}" type="presOf" srcId="{931BECB9-17B2-485F-AEE5-47F5BE02AE7E}" destId="{54FB8A7C-45CF-49FE-97FE-2E3CAB105A4D}" srcOrd="0" destOrd="0" presId="urn:microsoft.com/office/officeart/2005/8/layout/matrix3"/>
    <dgm:cxn modelId="{F3BDC32D-7D40-48E2-A9B3-B9185809EA80}" srcId="{931BECB9-17B2-485F-AEE5-47F5BE02AE7E}" destId="{4E70DC06-2CB1-4C90-B03A-8F12774439C3}" srcOrd="3" destOrd="0" parTransId="{26173982-7573-4574-9FC6-8A2916D599D4}" sibTransId="{5D7DCE80-8546-4EDA-910D-8BD167B91877}"/>
    <dgm:cxn modelId="{F0E8D862-5D86-4100-90C0-618EF87ACF31}" srcId="{931BECB9-17B2-485F-AEE5-47F5BE02AE7E}" destId="{46537FEC-AFBF-46C4-8ED7-41B6AC20E998}" srcOrd="1" destOrd="0" parTransId="{2DE1E06F-A771-47E2-922F-E2ABCEE680B3}" sibTransId="{B247EB84-DE7C-47DB-9DE8-D4FDB2797873}"/>
    <dgm:cxn modelId="{8D207F43-0A5F-4508-8124-88003125BA26}" type="presOf" srcId="{46537FEC-AFBF-46C4-8ED7-41B6AC20E998}" destId="{39F51F35-653B-4189-8DA4-86F36B02AFAD}" srcOrd="0" destOrd="0" presId="urn:microsoft.com/office/officeart/2005/8/layout/matrix3"/>
    <dgm:cxn modelId="{03BFD14B-695B-49E0-931E-1D6BB15E5839}" srcId="{931BECB9-17B2-485F-AEE5-47F5BE02AE7E}" destId="{D0B71B69-4F0F-4A82-8C35-EA69E13F8039}" srcOrd="0" destOrd="0" parTransId="{ADC00ADB-D239-4635-80F0-576CDFF6DE53}" sibTransId="{41941C0C-C4D7-4231-9C61-93071AD86571}"/>
    <dgm:cxn modelId="{001E3353-8418-40FD-BDD1-32737F6A700D}" type="presOf" srcId="{D0B71B69-4F0F-4A82-8C35-EA69E13F8039}" destId="{2AC683C7-9000-437D-9F8B-80BADCCCF280}" srcOrd="0" destOrd="0" presId="urn:microsoft.com/office/officeart/2005/8/layout/matrix3"/>
    <dgm:cxn modelId="{F74AE6B2-C8B9-44AD-8B04-FD2D39E1967C}" type="presOf" srcId="{351BAF05-6490-47E2-93AF-D28DE40E1984}" destId="{1465784F-6F45-4DF9-976A-D2C4BE02541A}" srcOrd="0" destOrd="0" presId="urn:microsoft.com/office/officeart/2005/8/layout/matrix3"/>
    <dgm:cxn modelId="{A0C113ED-1430-444B-BD6C-969183F4027D}" type="presOf" srcId="{4E70DC06-2CB1-4C90-B03A-8F12774439C3}" destId="{FEAC42BC-D238-4195-AAF9-4B658E8E4783}" srcOrd="0" destOrd="0" presId="urn:microsoft.com/office/officeart/2005/8/layout/matrix3"/>
    <dgm:cxn modelId="{1B335B73-5C28-4EEE-ACE2-E695F5202BDE}" type="presParOf" srcId="{54FB8A7C-45CF-49FE-97FE-2E3CAB105A4D}" destId="{B01D9DA7-37C8-4538-8C8C-CF0CA78F7029}" srcOrd="0" destOrd="0" presId="urn:microsoft.com/office/officeart/2005/8/layout/matrix3"/>
    <dgm:cxn modelId="{51023ACE-EA79-4AAB-B981-66EF5FEA2B02}" type="presParOf" srcId="{54FB8A7C-45CF-49FE-97FE-2E3CAB105A4D}" destId="{2AC683C7-9000-437D-9F8B-80BADCCCF280}" srcOrd="1" destOrd="0" presId="urn:microsoft.com/office/officeart/2005/8/layout/matrix3"/>
    <dgm:cxn modelId="{0FEB512B-4E69-45A2-BB8D-5853239D9B1D}" type="presParOf" srcId="{54FB8A7C-45CF-49FE-97FE-2E3CAB105A4D}" destId="{39F51F35-653B-4189-8DA4-86F36B02AFAD}" srcOrd="2" destOrd="0" presId="urn:microsoft.com/office/officeart/2005/8/layout/matrix3"/>
    <dgm:cxn modelId="{39D3B2E9-83DB-4D04-BA4F-CD224CB346F4}" type="presParOf" srcId="{54FB8A7C-45CF-49FE-97FE-2E3CAB105A4D}" destId="{1465784F-6F45-4DF9-976A-D2C4BE02541A}" srcOrd="3" destOrd="0" presId="urn:microsoft.com/office/officeart/2005/8/layout/matrix3"/>
    <dgm:cxn modelId="{DDFD4F44-6F40-4ACE-B582-800E4D91F8FE}" type="presParOf" srcId="{54FB8A7C-45CF-49FE-97FE-2E3CAB105A4D}" destId="{FEAC42BC-D238-4195-AAF9-4B658E8E4783}"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8A877C-523B-4A4F-BBC4-BB56167E323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218B006-233F-4EB8-A87A-FC33568ACC35}">
      <dgm:prSet/>
      <dgm:spPr/>
      <dgm:t>
        <a:bodyPr/>
        <a:lstStyle/>
        <a:p>
          <a:r>
            <a:rPr lang="en-US"/>
            <a:t>The analysis highlights opportunities for Uniquexcel to reduce shipping costs, improve supplier performance and increase product profitability. By considering cost-effective routes like Route C, addressing supplier delays and prioritising profitable products, the company can improve operational efficiency, reduce unnecessary expenses and enhance customer satisfaction.</a:t>
          </a:r>
        </a:p>
      </dgm:t>
    </dgm:pt>
    <dgm:pt modelId="{AB76BE86-6334-4EEF-9C38-558B04C7461C}" type="parTrans" cxnId="{3F5F82A9-A8A5-4E61-88A2-A8B94D2A47F9}">
      <dgm:prSet/>
      <dgm:spPr/>
      <dgm:t>
        <a:bodyPr/>
        <a:lstStyle/>
        <a:p>
          <a:endParaRPr lang="en-US"/>
        </a:p>
      </dgm:t>
    </dgm:pt>
    <dgm:pt modelId="{D74DB864-22E1-4F82-9C32-FFD94F968C56}" type="sibTrans" cxnId="{3F5F82A9-A8A5-4E61-88A2-A8B94D2A47F9}">
      <dgm:prSet/>
      <dgm:spPr/>
      <dgm:t>
        <a:bodyPr/>
        <a:lstStyle/>
        <a:p>
          <a:endParaRPr lang="en-US"/>
        </a:p>
      </dgm:t>
    </dgm:pt>
    <dgm:pt modelId="{85EFB366-FF7B-442F-8853-1A98BB6E74A7}" type="pres">
      <dgm:prSet presAssocID="{368A877C-523B-4A4F-BBC4-BB56167E323B}" presName="linear" presStyleCnt="0">
        <dgm:presLayoutVars>
          <dgm:animLvl val="lvl"/>
          <dgm:resizeHandles val="exact"/>
        </dgm:presLayoutVars>
      </dgm:prSet>
      <dgm:spPr/>
    </dgm:pt>
    <dgm:pt modelId="{455088EF-7FD2-49F9-8DEE-082252DA7602}" type="pres">
      <dgm:prSet presAssocID="{6218B006-233F-4EB8-A87A-FC33568ACC35}" presName="parentText" presStyleLbl="node1" presStyleIdx="0" presStyleCnt="1">
        <dgm:presLayoutVars>
          <dgm:chMax val="0"/>
          <dgm:bulletEnabled val="1"/>
        </dgm:presLayoutVars>
      </dgm:prSet>
      <dgm:spPr/>
    </dgm:pt>
  </dgm:ptLst>
  <dgm:cxnLst>
    <dgm:cxn modelId="{EDB6A323-21B8-450F-817B-3624490069EA}" type="presOf" srcId="{368A877C-523B-4A4F-BBC4-BB56167E323B}" destId="{85EFB366-FF7B-442F-8853-1A98BB6E74A7}" srcOrd="0" destOrd="0" presId="urn:microsoft.com/office/officeart/2005/8/layout/vList2"/>
    <dgm:cxn modelId="{ED43577B-6BA1-4244-9D08-8F8E366DEAA4}" type="presOf" srcId="{6218B006-233F-4EB8-A87A-FC33568ACC35}" destId="{455088EF-7FD2-49F9-8DEE-082252DA7602}" srcOrd="0" destOrd="0" presId="urn:microsoft.com/office/officeart/2005/8/layout/vList2"/>
    <dgm:cxn modelId="{3F5F82A9-A8A5-4E61-88A2-A8B94D2A47F9}" srcId="{368A877C-523B-4A4F-BBC4-BB56167E323B}" destId="{6218B006-233F-4EB8-A87A-FC33568ACC35}" srcOrd="0" destOrd="0" parTransId="{AB76BE86-6334-4EEF-9C38-558B04C7461C}" sibTransId="{D74DB864-22E1-4F82-9C32-FFD94F968C56}"/>
    <dgm:cxn modelId="{84FA7CD8-1F92-4E8C-820D-0C204631076F}" type="presParOf" srcId="{85EFB366-FF7B-442F-8853-1A98BB6E74A7}" destId="{455088EF-7FD2-49F9-8DEE-082252DA760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513151-8A8D-46D7-ACC2-E419F88C0C7B}"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D4AD6B54-648A-4966-B2AF-45E6DABAFE2B}">
      <dgm:prSet/>
      <dgm:spPr/>
      <dgm:t>
        <a:bodyPr/>
        <a:lstStyle/>
        <a:p>
          <a:r>
            <a:rPr lang="en-US"/>
            <a:t>Business Recommendations</a:t>
          </a:r>
        </a:p>
      </dgm:t>
    </dgm:pt>
    <dgm:pt modelId="{A978A54C-ED7B-4257-A1A2-C79D94620DE4}" type="parTrans" cxnId="{AA12965F-5A30-4496-B3FD-D42B33EF0F7F}">
      <dgm:prSet/>
      <dgm:spPr/>
      <dgm:t>
        <a:bodyPr/>
        <a:lstStyle/>
        <a:p>
          <a:endParaRPr lang="en-US"/>
        </a:p>
      </dgm:t>
    </dgm:pt>
    <dgm:pt modelId="{8BEDF47F-0435-4EF9-AA82-3906F0E07CEA}" type="sibTrans" cxnId="{AA12965F-5A30-4496-B3FD-D42B33EF0F7F}">
      <dgm:prSet/>
      <dgm:spPr/>
      <dgm:t>
        <a:bodyPr/>
        <a:lstStyle/>
        <a:p>
          <a:endParaRPr lang="en-US"/>
        </a:p>
      </dgm:t>
    </dgm:pt>
    <dgm:pt modelId="{BCA71283-731E-41F3-A1BC-00BB5DEDC031}" type="pres">
      <dgm:prSet presAssocID="{A1513151-8A8D-46D7-ACC2-E419F88C0C7B}" presName="Name0" presStyleCnt="0">
        <dgm:presLayoutVars>
          <dgm:dir/>
          <dgm:animLvl val="lvl"/>
          <dgm:resizeHandles val="exact"/>
        </dgm:presLayoutVars>
      </dgm:prSet>
      <dgm:spPr/>
    </dgm:pt>
    <dgm:pt modelId="{CBB8071D-E5A7-45D1-9E22-351B15C7EE6F}" type="pres">
      <dgm:prSet presAssocID="{D4AD6B54-648A-4966-B2AF-45E6DABAFE2B}" presName="linNode" presStyleCnt="0"/>
      <dgm:spPr/>
    </dgm:pt>
    <dgm:pt modelId="{00E5B932-B662-4B84-AE2A-2F23E4F7085A}" type="pres">
      <dgm:prSet presAssocID="{D4AD6B54-648A-4966-B2AF-45E6DABAFE2B}" presName="parentText" presStyleLbl="node1" presStyleIdx="0" presStyleCnt="1">
        <dgm:presLayoutVars>
          <dgm:chMax val="1"/>
          <dgm:bulletEnabled val="1"/>
        </dgm:presLayoutVars>
      </dgm:prSet>
      <dgm:spPr/>
    </dgm:pt>
  </dgm:ptLst>
  <dgm:cxnLst>
    <dgm:cxn modelId="{AA12965F-5A30-4496-B3FD-D42B33EF0F7F}" srcId="{A1513151-8A8D-46D7-ACC2-E419F88C0C7B}" destId="{D4AD6B54-648A-4966-B2AF-45E6DABAFE2B}" srcOrd="0" destOrd="0" parTransId="{A978A54C-ED7B-4257-A1A2-C79D94620DE4}" sibTransId="{8BEDF47F-0435-4EF9-AA82-3906F0E07CEA}"/>
    <dgm:cxn modelId="{3026914E-777E-455D-ACE0-78E7010B78BC}" type="presOf" srcId="{D4AD6B54-648A-4966-B2AF-45E6DABAFE2B}" destId="{00E5B932-B662-4B84-AE2A-2F23E4F7085A}" srcOrd="0" destOrd="0" presId="urn:microsoft.com/office/officeart/2005/8/layout/vList5"/>
    <dgm:cxn modelId="{DA278571-780C-48EF-8E0A-AF79CEE79971}" type="presOf" srcId="{A1513151-8A8D-46D7-ACC2-E419F88C0C7B}" destId="{BCA71283-731E-41F3-A1BC-00BB5DEDC031}" srcOrd="0" destOrd="0" presId="urn:microsoft.com/office/officeart/2005/8/layout/vList5"/>
    <dgm:cxn modelId="{56B986B2-1C2C-4794-A6D7-42D5F2865CB3}" type="presParOf" srcId="{BCA71283-731E-41F3-A1BC-00BB5DEDC031}" destId="{CBB8071D-E5A7-45D1-9E22-351B15C7EE6F}" srcOrd="0" destOrd="0" presId="urn:microsoft.com/office/officeart/2005/8/layout/vList5"/>
    <dgm:cxn modelId="{BE6A8F8E-2510-4B9A-BC5D-3A324A383D86}" type="presParOf" srcId="{CBB8071D-E5A7-45D1-9E22-351B15C7EE6F}" destId="{00E5B932-B662-4B84-AE2A-2F23E4F7085A}"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0D3321-D4AE-4F2D-A512-A06AAEF1DCEA}">
      <dsp:nvSpPr>
        <dsp:cNvPr id="0" name=""/>
        <dsp:cNvSpPr/>
      </dsp:nvSpPr>
      <dsp:spPr>
        <a:xfrm>
          <a:off x="0" y="197648"/>
          <a:ext cx="10515600" cy="90909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Stockouts</a:t>
          </a:r>
        </a:p>
      </dsp:txBody>
      <dsp:txXfrm>
        <a:off x="44378" y="242026"/>
        <a:ext cx="10426844" cy="820334"/>
      </dsp:txXfrm>
    </dsp:sp>
    <dsp:sp modelId="{AE6F5FD5-5D66-40A4-B952-8D8EDE67EEB5}">
      <dsp:nvSpPr>
        <dsp:cNvPr id="0" name=""/>
        <dsp:cNvSpPr/>
      </dsp:nvSpPr>
      <dsp:spPr>
        <a:xfrm>
          <a:off x="0" y="1213299"/>
          <a:ext cx="10515600" cy="90909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Defective Products</a:t>
          </a:r>
        </a:p>
      </dsp:txBody>
      <dsp:txXfrm>
        <a:off x="44378" y="1257677"/>
        <a:ext cx="10426844" cy="820334"/>
      </dsp:txXfrm>
    </dsp:sp>
    <dsp:sp modelId="{BAEC107D-9929-4DFF-BEFE-691636A8CC52}">
      <dsp:nvSpPr>
        <dsp:cNvPr id="0" name=""/>
        <dsp:cNvSpPr/>
      </dsp:nvSpPr>
      <dsp:spPr>
        <a:xfrm>
          <a:off x="0" y="2228949"/>
          <a:ext cx="10515600" cy="90909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Delivery Delays</a:t>
          </a:r>
        </a:p>
      </dsp:txBody>
      <dsp:txXfrm>
        <a:off x="44378" y="2273327"/>
        <a:ext cx="10426844" cy="820334"/>
      </dsp:txXfrm>
    </dsp:sp>
    <dsp:sp modelId="{AA135BBF-E23A-4B96-9E66-03653A5A7819}">
      <dsp:nvSpPr>
        <dsp:cNvPr id="0" name=""/>
        <dsp:cNvSpPr/>
      </dsp:nvSpPr>
      <dsp:spPr>
        <a:xfrm>
          <a:off x="0" y="3244598"/>
          <a:ext cx="10515600" cy="90909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Increase in the shipping and manufacturing costs</a:t>
          </a:r>
        </a:p>
      </dsp:txBody>
      <dsp:txXfrm>
        <a:off x="44378" y="3288976"/>
        <a:ext cx="10426844" cy="8203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1D9DA7-37C8-4538-8C8C-CF0CA78F7029}">
      <dsp:nvSpPr>
        <dsp:cNvPr id="0" name=""/>
        <dsp:cNvSpPr/>
      </dsp:nvSpPr>
      <dsp:spPr>
        <a:xfrm>
          <a:off x="1688429" y="0"/>
          <a:ext cx="7138740" cy="448627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C683C7-9000-437D-9F8B-80BADCCCF280}">
      <dsp:nvSpPr>
        <dsp:cNvPr id="0" name=""/>
        <dsp:cNvSpPr/>
      </dsp:nvSpPr>
      <dsp:spPr>
        <a:xfrm>
          <a:off x="3440858" y="426196"/>
          <a:ext cx="1749647" cy="17496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Total Product : </a:t>
          </a:r>
          <a:r>
            <a:rPr lang="en-US" sz="1800" kern="1200" dirty="0">
              <a:latin typeface="Dosis" panose="020F0502020204030204" pitchFamily="2" charset="0"/>
            </a:rPr>
            <a:t> $</a:t>
          </a:r>
          <a:r>
            <a:rPr lang="en-US" sz="1800" kern="1200" dirty="0"/>
            <a:t>448</a:t>
          </a:r>
        </a:p>
      </dsp:txBody>
      <dsp:txXfrm>
        <a:off x="3526269" y="511607"/>
        <a:ext cx="1578825" cy="1578825"/>
      </dsp:txXfrm>
    </dsp:sp>
    <dsp:sp modelId="{39F51F35-653B-4189-8DA4-86F36B02AFAD}">
      <dsp:nvSpPr>
        <dsp:cNvPr id="0" name=""/>
        <dsp:cNvSpPr/>
      </dsp:nvSpPr>
      <dsp:spPr>
        <a:xfrm>
          <a:off x="5325094" y="426196"/>
          <a:ext cx="1749647" cy="17496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Shipping Cost: </a:t>
          </a:r>
          <a:r>
            <a:rPr lang="en-US" sz="1800" kern="1200" dirty="0">
              <a:latin typeface="Dosis" panose="020F0502020204030204" pitchFamily="2" charset="0"/>
            </a:rPr>
            <a:t>$</a:t>
          </a:r>
          <a:r>
            <a:rPr lang="en-US" sz="1800" kern="1200" dirty="0"/>
            <a:t>2,672.185</a:t>
          </a:r>
        </a:p>
      </dsp:txBody>
      <dsp:txXfrm>
        <a:off x="5410505" y="511607"/>
        <a:ext cx="1578825" cy="1578825"/>
      </dsp:txXfrm>
    </dsp:sp>
    <dsp:sp modelId="{1465784F-6F45-4DF9-976A-D2C4BE02541A}">
      <dsp:nvSpPr>
        <dsp:cNvPr id="0" name=""/>
        <dsp:cNvSpPr/>
      </dsp:nvSpPr>
      <dsp:spPr>
        <a:xfrm>
          <a:off x="3440858" y="2310431"/>
          <a:ext cx="1749647" cy="17496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Average Manufacturing lead time: </a:t>
          </a:r>
          <a:r>
            <a:rPr lang="en-US" sz="1800" kern="1200" dirty="0">
              <a:latin typeface="Dosis" panose="020F0502020204030204" pitchFamily="2" charset="0"/>
            </a:rPr>
            <a:t>$</a:t>
          </a:r>
          <a:r>
            <a:rPr lang="en-US" sz="1800" kern="1200" dirty="0"/>
            <a:t>14.776</a:t>
          </a:r>
        </a:p>
      </dsp:txBody>
      <dsp:txXfrm>
        <a:off x="3526269" y="2395842"/>
        <a:ext cx="1578825" cy="1578825"/>
      </dsp:txXfrm>
    </dsp:sp>
    <dsp:sp modelId="{FEAC42BC-D238-4195-AAF9-4B658E8E4783}">
      <dsp:nvSpPr>
        <dsp:cNvPr id="0" name=""/>
        <dsp:cNvSpPr/>
      </dsp:nvSpPr>
      <dsp:spPr>
        <a:xfrm>
          <a:off x="5341138" y="2302418"/>
          <a:ext cx="1749647" cy="17496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Total Profitability: </a:t>
          </a:r>
          <a:r>
            <a:rPr lang="en-US" sz="1800" kern="1200" dirty="0">
              <a:latin typeface="Dosis" panose="020F0502020204030204" pitchFamily="2" charset="0"/>
            </a:rPr>
            <a:t>$</a:t>
          </a:r>
          <a:r>
            <a:rPr lang="en-US" sz="1800" kern="1200" dirty="0"/>
            <a:t>231,929</a:t>
          </a:r>
        </a:p>
      </dsp:txBody>
      <dsp:txXfrm>
        <a:off x="5426549" y="2387829"/>
        <a:ext cx="1578825" cy="15788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088EF-7FD2-49F9-8DEE-082252DA7602}">
      <dsp:nvSpPr>
        <dsp:cNvPr id="0" name=""/>
        <dsp:cNvSpPr/>
      </dsp:nvSpPr>
      <dsp:spPr>
        <a:xfrm>
          <a:off x="0" y="200453"/>
          <a:ext cx="10912642" cy="2882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The analysis highlights opportunities for Uniquexcel to reduce shipping costs, improve supplier performance and increase product profitability. By considering cost-effective routes like Route C, addressing supplier delays and prioritising profitable products, the company can improve operational efficiency, reduce unnecessary expenses and enhance customer satisfaction.</a:t>
          </a:r>
        </a:p>
      </dsp:txBody>
      <dsp:txXfrm>
        <a:off x="140731" y="341184"/>
        <a:ext cx="10631180" cy="26014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E5B932-B662-4B84-AE2A-2F23E4F7085A}">
      <dsp:nvSpPr>
        <dsp:cNvPr id="0" name=""/>
        <dsp:cNvSpPr/>
      </dsp:nvSpPr>
      <dsp:spPr>
        <a:xfrm>
          <a:off x="3364992" y="0"/>
          <a:ext cx="3785616" cy="3930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Business Recommendations</a:t>
          </a:r>
        </a:p>
      </dsp:txBody>
      <dsp:txXfrm>
        <a:off x="3384178" y="19186"/>
        <a:ext cx="3747244" cy="35465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19BA-13E9-9293-ADD3-84BA9BA9CA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0D25C1-D4A5-1FCF-575D-203F905468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91985E-E21B-175F-8E16-B39A56D8A253}"/>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5" name="Footer Placeholder 4">
            <a:extLst>
              <a:ext uri="{FF2B5EF4-FFF2-40B4-BE49-F238E27FC236}">
                <a16:creationId xmlns:a16="http://schemas.microsoft.com/office/drawing/2014/main" id="{1EDE5C24-45A8-7134-3B37-CF71B6C0A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18FA9-88E2-3745-DE47-5E665E189FE7}"/>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19760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0EB9F-7391-D70E-286D-1D0ABFDFAE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19633-E845-CFD1-6AFE-5064FAF35F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0093A6-2212-AC74-B06D-3F018C597422}"/>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5" name="Footer Placeholder 4">
            <a:extLst>
              <a:ext uri="{FF2B5EF4-FFF2-40B4-BE49-F238E27FC236}">
                <a16:creationId xmlns:a16="http://schemas.microsoft.com/office/drawing/2014/main" id="{09915852-1A9D-5C8A-5AEA-63CFB33D6D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1B390C-3142-B58E-6EFE-A6DC3DC08EB7}"/>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597293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4685-1F1D-3D3E-5FC0-2F4C76888F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A703E7-264D-012E-F1FF-2AE4633F86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ED3EF7-3A56-1199-B03D-17EC14697EE2}"/>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5" name="Footer Placeholder 4">
            <a:extLst>
              <a:ext uri="{FF2B5EF4-FFF2-40B4-BE49-F238E27FC236}">
                <a16:creationId xmlns:a16="http://schemas.microsoft.com/office/drawing/2014/main" id="{712A9CF3-3712-A175-77B7-34FBBB2B7D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6FDADB-4795-F3CA-E37D-EB5D6E6A6553}"/>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550188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3DB5F-3AFC-B2B2-2BE7-58F46E99C8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6EB2D1-C842-A06E-EE41-94EEE88404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EDF5F4-54C1-B274-D835-154CD13013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CEFD7E-5CFB-10A2-3FC2-EBF0DD3EC1AB}"/>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6" name="Footer Placeholder 5">
            <a:extLst>
              <a:ext uri="{FF2B5EF4-FFF2-40B4-BE49-F238E27FC236}">
                <a16:creationId xmlns:a16="http://schemas.microsoft.com/office/drawing/2014/main" id="{795E1CD9-D919-F677-13FE-591683C380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A090EE-C201-7D81-F6B7-59B40DAB695A}"/>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897496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D4A6-2950-1DBD-0455-007016A590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C34732-D2C6-323F-86C5-97F88FA670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8CCB3F-E396-24A8-37BD-4AD604B380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160D32-D738-7F93-8FF6-DF203DFAC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692E04-5A4B-0F34-ED6B-21E5DBF443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B11426-9F13-E80B-D0CB-472FFDBFE07B}"/>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8" name="Footer Placeholder 7">
            <a:extLst>
              <a:ext uri="{FF2B5EF4-FFF2-40B4-BE49-F238E27FC236}">
                <a16:creationId xmlns:a16="http://schemas.microsoft.com/office/drawing/2014/main" id="{19D74205-A90D-3B43-CEB8-83548DDCA6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8CF8AC-4DBC-CD06-8AB7-74D23AF2A69E}"/>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1302030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A1C5-4817-5542-0BBB-BF3B29470D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23E148-3481-DD30-292B-31B85952BC2A}"/>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4" name="Footer Placeholder 3">
            <a:extLst>
              <a:ext uri="{FF2B5EF4-FFF2-40B4-BE49-F238E27FC236}">
                <a16:creationId xmlns:a16="http://schemas.microsoft.com/office/drawing/2014/main" id="{9B2D07D6-CE6F-79E5-DE2A-A004B053A8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C84CA8-11B8-561A-5019-2B309914907D}"/>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3257584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F4992-53F6-500E-CB2B-853064163851}"/>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3" name="Footer Placeholder 2">
            <a:extLst>
              <a:ext uri="{FF2B5EF4-FFF2-40B4-BE49-F238E27FC236}">
                <a16:creationId xmlns:a16="http://schemas.microsoft.com/office/drawing/2014/main" id="{71E796E6-F8F2-6802-EF04-A3AD41736A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D4447E-8976-E1A6-5EB4-7C6BC54C6BEA}"/>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2732294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8D70-98FE-1DE4-1B5E-40119269AC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7BD84-75DC-5428-87C9-C6445BB2FA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A6CA8C-0EA6-4268-C85F-EA0600FCFC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29C620-B543-3372-6BA7-E5A9407156AC}"/>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6" name="Footer Placeholder 5">
            <a:extLst>
              <a:ext uri="{FF2B5EF4-FFF2-40B4-BE49-F238E27FC236}">
                <a16:creationId xmlns:a16="http://schemas.microsoft.com/office/drawing/2014/main" id="{AF980269-FF23-697C-D3C1-3849F765B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04B759-1F5B-D03F-C294-564E141D1441}"/>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3161388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9A5EC-EE15-3FF5-7C1D-9F5B2D8EE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AD3BDD-E343-71F0-2B64-98AF14A0AB7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F6A5F5-0E88-85D9-5669-9B07C7A41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26011A-44F0-0093-6AD1-FD4C6F3F0C63}"/>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6" name="Footer Placeholder 5">
            <a:extLst>
              <a:ext uri="{FF2B5EF4-FFF2-40B4-BE49-F238E27FC236}">
                <a16:creationId xmlns:a16="http://schemas.microsoft.com/office/drawing/2014/main" id="{E8A9C01D-EB5E-6672-0A11-E43AC77DB2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2DC4A0-076C-9D8C-7786-3842686A6DB2}"/>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3634292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13962-22C3-2F09-5B75-511D95A9A3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774369-5537-0DCD-27DB-7B3C01132B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C7AA0B-016F-59FD-4BB0-8C93174BD795}"/>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5" name="Footer Placeholder 4">
            <a:extLst>
              <a:ext uri="{FF2B5EF4-FFF2-40B4-BE49-F238E27FC236}">
                <a16:creationId xmlns:a16="http://schemas.microsoft.com/office/drawing/2014/main" id="{C97CD20D-FC83-0C6E-CFC9-6E3CF66EEE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8A66C-62CF-C9FC-FF56-0E54FAF37E60}"/>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39764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5B8775-3C9B-66AF-4047-FB9C14283E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068C32-5306-4434-61EA-2815DEC183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3B6A97-6907-1472-ACA9-19A0D8465115}"/>
              </a:ext>
            </a:extLst>
          </p:cNvPr>
          <p:cNvSpPr>
            <a:spLocks noGrp="1"/>
          </p:cNvSpPr>
          <p:nvPr>
            <p:ph type="dt" sz="half" idx="10"/>
          </p:nvPr>
        </p:nvSpPr>
        <p:spPr/>
        <p:txBody>
          <a:bodyPr/>
          <a:lstStyle/>
          <a:p>
            <a:fld id="{EDE766A8-5CFC-423A-9616-C03E71F6A718}" type="datetimeFigureOut">
              <a:rPr lang="en-US" smtClean="0"/>
              <a:t>10/14/2026</a:t>
            </a:fld>
            <a:endParaRPr lang="en-US"/>
          </a:p>
        </p:txBody>
      </p:sp>
      <p:sp>
        <p:nvSpPr>
          <p:cNvPr id="5" name="Footer Placeholder 4">
            <a:extLst>
              <a:ext uri="{FF2B5EF4-FFF2-40B4-BE49-F238E27FC236}">
                <a16:creationId xmlns:a16="http://schemas.microsoft.com/office/drawing/2014/main" id="{52A472CF-5E03-786B-74A6-A5A0F755F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6647F5-E684-60C9-391B-0413942960C6}"/>
              </a:ext>
            </a:extLst>
          </p:cNvPr>
          <p:cNvSpPr>
            <a:spLocks noGrp="1"/>
          </p:cNvSpPr>
          <p:nvPr>
            <p:ph type="sldNum" sz="quarter" idx="12"/>
          </p:nvPr>
        </p:nvSpPr>
        <p:spPr/>
        <p:txBody>
          <a:bodyPr/>
          <a:lstStyle/>
          <a:p>
            <a:fld id="{53CF6673-F18E-4B11-B989-757287F08065}" type="slidenum">
              <a:rPr lang="en-US" smtClean="0"/>
              <a:t>‹#›</a:t>
            </a:fld>
            <a:endParaRPr lang="en-US"/>
          </a:p>
        </p:txBody>
      </p:sp>
    </p:spTree>
    <p:extLst>
      <p:ext uri="{BB962C8B-B14F-4D97-AF65-F5344CB8AC3E}">
        <p14:creationId xmlns:p14="http://schemas.microsoft.com/office/powerpoint/2010/main" val="3469588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490DC2-792A-7C52-B20F-91AD79B61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843D3A-4F11-3B79-A4F1-3F58309F0A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C6E804-C3BE-CE96-855C-792FB67F4A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E766A8-5CFC-423A-9616-C03E71F6A718}" type="datetimeFigureOut">
              <a:rPr lang="en-US" smtClean="0"/>
              <a:t>10/14/2026</a:t>
            </a:fld>
            <a:endParaRPr lang="en-US"/>
          </a:p>
        </p:txBody>
      </p:sp>
      <p:sp>
        <p:nvSpPr>
          <p:cNvPr id="5" name="Footer Placeholder 4">
            <a:extLst>
              <a:ext uri="{FF2B5EF4-FFF2-40B4-BE49-F238E27FC236}">
                <a16:creationId xmlns:a16="http://schemas.microsoft.com/office/drawing/2014/main" id="{DA5C8B26-8E04-C5AE-1AF4-53FD104804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617D4D7-978B-6017-A7CB-23B3B75F4C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CF6673-F18E-4B11-B989-757287F08065}" type="slidenum">
              <a:rPr lang="en-US" smtClean="0"/>
              <a:t>‹#›</a:t>
            </a:fld>
            <a:endParaRPr lang="en-US"/>
          </a:p>
        </p:txBody>
      </p:sp>
    </p:spTree>
    <p:extLst>
      <p:ext uri="{BB962C8B-B14F-4D97-AF65-F5344CB8AC3E}">
        <p14:creationId xmlns:p14="http://schemas.microsoft.com/office/powerpoint/2010/main" val="35189228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A8498-567D-9F2A-8071-A352B3A0DE58}"/>
              </a:ext>
            </a:extLst>
          </p:cNvPr>
          <p:cNvSpPr>
            <a:spLocks noGrp="1"/>
          </p:cNvSpPr>
          <p:nvPr>
            <p:ph type="ctrTitle"/>
          </p:nvPr>
        </p:nvSpPr>
        <p:spPr>
          <a:xfrm>
            <a:off x="272716" y="308810"/>
            <a:ext cx="10491537" cy="545432"/>
          </a:xfrm>
        </p:spPr>
        <p:txBody>
          <a:bodyPr>
            <a:normAutofit/>
          </a:bodyPr>
          <a:lstStyle/>
          <a:p>
            <a:r>
              <a:rPr lang="en-US" sz="2800" dirty="0"/>
              <a:t>Optimizing Supply Chain Operations for </a:t>
            </a:r>
            <a:r>
              <a:rPr lang="en-US" sz="2800" dirty="0" err="1"/>
              <a:t>Uniquexcel</a:t>
            </a:r>
            <a:r>
              <a:rPr lang="en-US" sz="2800" dirty="0"/>
              <a:t> Makeup Product line</a:t>
            </a:r>
          </a:p>
        </p:txBody>
      </p:sp>
      <p:sp>
        <p:nvSpPr>
          <p:cNvPr id="3" name="Subtitle 2">
            <a:extLst>
              <a:ext uri="{FF2B5EF4-FFF2-40B4-BE49-F238E27FC236}">
                <a16:creationId xmlns:a16="http://schemas.microsoft.com/office/drawing/2014/main" id="{66C5053F-EFDB-40C6-0953-D0C7510EB9B7}"/>
              </a:ext>
            </a:extLst>
          </p:cNvPr>
          <p:cNvSpPr>
            <a:spLocks noGrp="1"/>
          </p:cNvSpPr>
          <p:nvPr>
            <p:ph type="subTitle" idx="1"/>
          </p:nvPr>
        </p:nvSpPr>
        <p:spPr>
          <a:xfrm>
            <a:off x="336884" y="1267326"/>
            <a:ext cx="4339390" cy="557464"/>
          </a:xfrm>
        </p:spPr>
        <p:txBody>
          <a:bodyPr>
            <a:normAutofit fontScale="62500" lnSpcReduction="20000"/>
          </a:bodyPr>
          <a:lstStyle/>
          <a:p>
            <a:endParaRPr lang="en-US" dirty="0"/>
          </a:p>
          <a:p>
            <a:r>
              <a:rPr lang="en-US" dirty="0"/>
              <a:t>A data – driven Business Analysis Case Study </a:t>
            </a:r>
          </a:p>
          <a:p>
            <a:endParaRPr lang="en-US" dirty="0"/>
          </a:p>
        </p:txBody>
      </p:sp>
      <p:sp>
        <p:nvSpPr>
          <p:cNvPr id="4" name="TextBox 3">
            <a:extLst>
              <a:ext uri="{FF2B5EF4-FFF2-40B4-BE49-F238E27FC236}">
                <a16:creationId xmlns:a16="http://schemas.microsoft.com/office/drawing/2014/main" id="{CE5E82E9-66E6-B507-47BA-E5C86896A22E}"/>
              </a:ext>
            </a:extLst>
          </p:cNvPr>
          <p:cNvSpPr txBox="1"/>
          <p:nvPr/>
        </p:nvSpPr>
        <p:spPr>
          <a:xfrm>
            <a:off x="8101264" y="5871410"/>
            <a:ext cx="4964813" cy="923330"/>
          </a:xfrm>
          <a:prstGeom prst="rect">
            <a:avLst/>
          </a:prstGeom>
          <a:noFill/>
        </p:spPr>
        <p:txBody>
          <a:bodyPr wrap="square" rtlCol="0">
            <a:spAutoFit/>
          </a:bodyPr>
          <a:lstStyle/>
          <a:p>
            <a:r>
              <a:rPr lang="en-US" dirty="0"/>
              <a:t>Name – Temitope Opeyemi Somoye</a:t>
            </a:r>
          </a:p>
          <a:p>
            <a:r>
              <a:rPr lang="en-US" dirty="0"/>
              <a:t>Role – Aspiring Business Analyst</a:t>
            </a:r>
          </a:p>
          <a:p>
            <a:endParaRPr lang="en-US" dirty="0"/>
          </a:p>
        </p:txBody>
      </p:sp>
    </p:spTree>
    <p:extLst>
      <p:ext uri="{BB962C8B-B14F-4D97-AF65-F5344CB8AC3E}">
        <p14:creationId xmlns:p14="http://schemas.microsoft.com/office/powerpoint/2010/main" val="287831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65DE4-DB00-4054-CD3A-E36263AD36F8}"/>
              </a:ext>
            </a:extLst>
          </p:cNvPr>
          <p:cNvSpPr>
            <a:spLocks noGrp="1"/>
          </p:cNvSpPr>
          <p:nvPr>
            <p:ph type="title"/>
          </p:nvPr>
        </p:nvSpPr>
        <p:spPr/>
        <p:txBody>
          <a:bodyPr/>
          <a:lstStyle/>
          <a:p>
            <a:r>
              <a:rPr lang="en-US" dirty="0"/>
              <a:t>Challenges </a:t>
            </a:r>
            <a:r>
              <a:rPr lang="en-US" dirty="0" err="1"/>
              <a:t>Uniquexcel</a:t>
            </a:r>
            <a:r>
              <a:rPr lang="en-US" dirty="0"/>
              <a:t> faces</a:t>
            </a:r>
          </a:p>
        </p:txBody>
      </p:sp>
      <p:graphicFrame>
        <p:nvGraphicFramePr>
          <p:cNvPr id="5" name="Content Placeholder 4">
            <a:extLst>
              <a:ext uri="{FF2B5EF4-FFF2-40B4-BE49-F238E27FC236}">
                <a16:creationId xmlns:a16="http://schemas.microsoft.com/office/drawing/2014/main" id="{1F0A0A69-D22D-7DC4-2380-2D14778B1EF8}"/>
              </a:ext>
            </a:extLst>
          </p:cNvPr>
          <p:cNvGraphicFramePr>
            <a:graphicFrameLocks noGrp="1"/>
          </p:cNvGraphicFramePr>
          <p:nvPr>
            <p:ph idx="1"/>
            <p:extLst>
              <p:ext uri="{D42A27DB-BD31-4B8C-83A1-F6EECF244321}">
                <p14:modId xmlns:p14="http://schemas.microsoft.com/office/powerpoint/2010/main" val="116474591"/>
              </p:ext>
            </p:extLst>
          </p:nvPr>
        </p:nvGraphicFramePr>
        <p:xfrm>
          <a:off x="838200" y="1727618"/>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342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91B6-C6D7-EB9D-8988-2184E861C07B}"/>
              </a:ext>
            </a:extLst>
          </p:cNvPr>
          <p:cNvSpPr>
            <a:spLocks noGrp="1"/>
          </p:cNvSpPr>
          <p:nvPr>
            <p:ph type="title"/>
          </p:nvPr>
        </p:nvSpPr>
        <p:spPr/>
        <p:txBody>
          <a:bodyPr/>
          <a:lstStyle/>
          <a:p>
            <a:r>
              <a:rPr lang="en-US" dirty="0"/>
              <a:t>Overview and KPI</a:t>
            </a:r>
          </a:p>
        </p:txBody>
      </p:sp>
      <p:graphicFrame>
        <p:nvGraphicFramePr>
          <p:cNvPr id="8" name="Content Placeholder 7">
            <a:extLst>
              <a:ext uri="{FF2B5EF4-FFF2-40B4-BE49-F238E27FC236}">
                <a16:creationId xmlns:a16="http://schemas.microsoft.com/office/drawing/2014/main" id="{44D21B25-61AE-4737-8DB7-9286465A86A3}"/>
              </a:ext>
            </a:extLst>
          </p:cNvPr>
          <p:cNvGraphicFramePr>
            <a:graphicFrameLocks noGrp="1"/>
          </p:cNvGraphicFramePr>
          <p:nvPr>
            <p:ph idx="1"/>
            <p:extLst>
              <p:ext uri="{D42A27DB-BD31-4B8C-83A1-F6EECF244321}">
                <p14:modId xmlns:p14="http://schemas.microsoft.com/office/powerpoint/2010/main" val="2301828668"/>
              </p:ext>
            </p:extLst>
          </p:nvPr>
        </p:nvGraphicFramePr>
        <p:xfrm>
          <a:off x="838200" y="1690688"/>
          <a:ext cx="10515600" cy="4486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5367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1105-BF4D-A65E-B908-C88E6EB9A1F1}"/>
              </a:ext>
            </a:extLst>
          </p:cNvPr>
          <p:cNvSpPr>
            <a:spLocks noGrp="1"/>
          </p:cNvSpPr>
          <p:nvPr>
            <p:ph type="title"/>
          </p:nvPr>
        </p:nvSpPr>
        <p:spPr>
          <a:xfrm>
            <a:off x="1" y="18255"/>
            <a:ext cx="1219200" cy="422903"/>
          </a:xfrm>
        </p:spPr>
        <p:txBody>
          <a:bodyPr>
            <a:normAutofit fontScale="90000"/>
          </a:bodyPr>
          <a:lstStyle/>
          <a:p>
            <a:r>
              <a:rPr lang="en-US" sz="2800" dirty="0">
                <a:solidFill>
                  <a:schemeClr val="accent6">
                    <a:lumMod val="75000"/>
                  </a:schemeClr>
                </a:solidFill>
                <a:highlight>
                  <a:srgbClr val="00FFFF"/>
                </a:highlight>
              </a:rPr>
              <a:t>Insights</a:t>
            </a:r>
          </a:p>
        </p:txBody>
      </p:sp>
      <p:graphicFrame>
        <p:nvGraphicFramePr>
          <p:cNvPr id="5" name="Chart 4">
            <a:extLst>
              <a:ext uri="{FF2B5EF4-FFF2-40B4-BE49-F238E27FC236}">
                <a16:creationId xmlns:a16="http://schemas.microsoft.com/office/drawing/2014/main" id="{7C6CD59F-3DA3-4941-B3BA-E89A81452261}"/>
              </a:ext>
            </a:extLst>
          </p:cNvPr>
          <p:cNvGraphicFramePr>
            <a:graphicFrameLocks/>
          </p:cNvGraphicFramePr>
          <p:nvPr>
            <p:extLst>
              <p:ext uri="{D42A27DB-BD31-4B8C-83A1-F6EECF244321}">
                <p14:modId xmlns:p14="http://schemas.microsoft.com/office/powerpoint/2010/main" val="3528055694"/>
              </p:ext>
            </p:extLst>
          </p:nvPr>
        </p:nvGraphicFramePr>
        <p:xfrm>
          <a:off x="144379" y="852456"/>
          <a:ext cx="5245768" cy="231184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9">
            <a:extLst>
              <a:ext uri="{FF2B5EF4-FFF2-40B4-BE49-F238E27FC236}">
                <a16:creationId xmlns:a16="http://schemas.microsoft.com/office/drawing/2014/main" id="{7C3F848B-D818-4BC5-A5DF-80CCF3C35F66}"/>
              </a:ext>
            </a:extLst>
          </p:cNvPr>
          <p:cNvGraphicFramePr>
            <a:graphicFrameLocks noGrp="1"/>
          </p:cNvGraphicFramePr>
          <p:nvPr>
            <p:ph idx="1"/>
            <p:extLst>
              <p:ext uri="{D42A27DB-BD31-4B8C-83A1-F6EECF244321}">
                <p14:modId xmlns:p14="http://schemas.microsoft.com/office/powerpoint/2010/main" val="3741858336"/>
              </p:ext>
            </p:extLst>
          </p:nvPr>
        </p:nvGraphicFramePr>
        <p:xfrm>
          <a:off x="5831307" y="836414"/>
          <a:ext cx="5847346" cy="232789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F34BC104-B149-4C82-BECB-B1AC325EF6A5}"/>
              </a:ext>
            </a:extLst>
          </p:cNvPr>
          <p:cNvGraphicFramePr>
            <a:graphicFrameLocks/>
          </p:cNvGraphicFramePr>
          <p:nvPr>
            <p:extLst>
              <p:ext uri="{D42A27DB-BD31-4B8C-83A1-F6EECF244321}">
                <p14:modId xmlns:p14="http://schemas.microsoft.com/office/powerpoint/2010/main" val="1950037977"/>
              </p:ext>
            </p:extLst>
          </p:nvPr>
        </p:nvGraphicFramePr>
        <p:xfrm>
          <a:off x="144379" y="3969418"/>
          <a:ext cx="5245768" cy="28178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484BD490-1AEA-4FE2-8B1C-A4B7AFEF5D23}"/>
              </a:ext>
            </a:extLst>
          </p:cNvPr>
          <p:cNvGraphicFramePr>
            <a:graphicFrameLocks/>
          </p:cNvGraphicFramePr>
          <p:nvPr>
            <p:extLst>
              <p:ext uri="{D42A27DB-BD31-4B8C-83A1-F6EECF244321}">
                <p14:modId xmlns:p14="http://schemas.microsoft.com/office/powerpoint/2010/main" val="189120536"/>
              </p:ext>
            </p:extLst>
          </p:nvPr>
        </p:nvGraphicFramePr>
        <p:xfrm>
          <a:off x="5831307" y="3969418"/>
          <a:ext cx="5847346" cy="2817896"/>
        </p:xfrm>
        <a:graphic>
          <a:graphicData uri="http://schemas.openxmlformats.org/drawingml/2006/chart">
            <c:chart xmlns:c="http://schemas.openxmlformats.org/drawingml/2006/chart" xmlns:r="http://schemas.openxmlformats.org/officeDocument/2006/relationships" r:id="rId5"/>
          </a:graphicData>
        </a:graphic>
      </p:graphicFrame>
      <p:sp>
        <p:nvSpPr>
          <p:cNvPr id="18" name="TextBox 17">
            <a:extLst>
              <a:ext uri="{FF2B5EF4-FFF2-40B4-BE49-F238E27FC236}">
                <a16:creationId xmlns:a16="http://schemas.microsoft.com/office/drawing/2014/main" id="{3C886231-FF21-44A0-4496-DD34F5D1DBCB}"/>
              </a:ext>
            </a:extLst>
          </p:cNvPr>
          <p:cNvSpPr txBox="1"/>
          <p:nvPr/>
        </p:nvSpPr>
        <p:spPr>
          <a:xfrm>
            <a:off x="144379" y="561259"/>
            <a:ext cx="4847722" cy="246221"/>
          </a:xfrm>
          <a:prstGeom prst="rect">
            <a:avLst/>
          </a:prstGeom>
          <a:noFill/>
        </p:spPr>
        <p:txBody>
          <a:bodyPr wrap="square" rtlCol="0">
            <a:spAutoFit/>
          </a:bodyPr>
          <a:lstStyle/>
          <a:p>
            <a:pPr marL="171450" indent="-171450">
              <a:buFont typeface="Wingdings" panose="05000000000000000000" pitchFamily="2" charset="2"/>
              <a:buChar char="v"/>
            </a:pPr>
            <a:r>
              <a:rPr lang="en-US" sz="1000" b="1" dirty="0"/>
              <a:t>Route A has the highest shipping cost, while Route C is the most cost-efficient</a:t>
            </a:r>
            <a:r>
              <a:rPr lang="en-US" sz="1000" dirty="0"/>
              <a:t>.</a:t>
            </a:r>
          </a:p>
        </p:txBody>
      </p:sp>
      <p:sp>
        <p:nvSpPr>
          <p:cNvPr id="20" name="TextBox 19">
            <a:extLst>
              <a:ext uri="{FF2B5EF4-FFF2-40B4-BE49-F238E27FC236}">
                <a16:creationId xmlns:a16="http://schemas.microsoft.com/office/drawing/2014/main" id="{A81C35B0-4F25-E674-61BC-55AB62B98AB4}"/>
              </a:ext>
            </a:extLst>
          </p:cNvPr>
          <p:cNvSpPr txBox="1"/>
          <p:nvPr/>
        </p:nvSpPr>
        <p:spPr>
          <a:xfrm>
            <a:off x="5764631" y="590192"/>
            <a:ext cx="5884944" cy="246221"/>
          </a:xfrm>
          <a:prstGeom prst="rect">
            <a:avLst/>
          </a:prstGeom>
          <a:noFill/>
        </p:spPr>
        <p:txBody>
          <a:bodyPr wrap="none" rtlCol="0">
            <a:spAutoFit/>
          </a:bodyPr>
          <a:lstStyle/>
          <a:p>
            <a:pPr marL="171450" lvl="0" indent="-171450">
              <a:buFont typeface="Wingdings" panose="05000000000000000000" pitchFamily="2" charset="2"/>
              <a:buChar char="v"/>
            </a:pPr>
            <a:r>
              <a:rPr lang="en-US" sz="1000" b="1" dirty="0"/>
              <a:t>Supplier 3 experiences the highest transportation delays, potentially affecting timely deliveries.</a:t>
            </a:r>
          </a:p>
        </p:txBody>
      </p:sp>
      <p:sp>
        <p:nvSpPr>
          <p:cNvPr id="21" name="TextBox 20">
            <a:extLst>
              <a:ext uri="{FF2B5EF4-FFF2-40B4-BE49-F238E27FC236}">
                <a16:creationId xmlns:a16="http://schemas.microsoft.com/office/drawing/2014/main" id="{222CC3C9-20FA-F476-8396-DDE6DB1C6CF8}"/>
              </a:ext>
            </a:extLst>
          </p:cNvPr>
          <p:cNvSpPr txBox="1"/>
          <p:nvPr/>
        </p:nvSpPr>
        <p:spPr>
          <a:xfrm>
            <a:off x="43614" y="3569308"/>
            <a:ext cx="5346533" cy="400110"/>
          </a:xfrm>
          <a:prstGeom prst="rect">
            <a:avLst/>
          </a:prstGeom>
          <a:noFill/>
        </p:spPr>
        <p:txBody>
          <a:bodyPr wrap="square" rtlCol="0">
            <a:spAutoFit/>
          </a:bodyPr>
          <a:lstStyle/>
          <a:p>
            <a:pPr marL="285750" indent="-285750">
              <a:buFont typeface="Wingdings" panose="05000000000000000000" pitchFamily="2" charset="2"/>
              <a:buChar char="v"/>
            </a:pPr>
            <a:r>
              <a:rPr lang="en-US" sz="1000" b="1" dirty="0"/>
              <a:t>Supplier 4 has the longest manufacturing lead time, while defect rates vary across suppliers.</a:t>
            </a:r>
          </a:p>
        </p:txBody>
      </p:sp>
      <p:sp>
        <p:nvSpPr>
          <p:cNvPr id="22" name="TextBox 21">
            <a:extLst>
              <a:ext uri="{FF2B5EF4-FFF2-40B4-BE49-F238E27FC236}">
                <a16:creationId xmlns:a16="http://schemas.microsoft.com/office/drawing/2014/main" id="{514C991C-A335-5E44-3445-8AD7870DA3E7}"/>
              </a:ext>
            </a:extLst>
          </p:cNvPr>
          <p:cNvSpPr txBox="1"/>
          <p:nvPr/>
        </p:nvSpPr>
        <p:spPr>
          <a:xfrm>
            <a:off x="5678906" y="3569308"/>
            <a:ext cx="5970669" cy="400110"/>
          </a:xfrm>
          <a:prstGeom prst="rect">
            <a:avLst/>
          </a:prstGeom>
          <a:noFill/>
        </p:spPr>
        <p:txBody>
          <a:bodyPr wrap="square" rtlCol="0">
            <a:spAutoFit/>
          </a:bodyPr>
          <a:lstStyle/>
          <a:p>
            <a:pPr marL="285750" indent="-285750">
              <a:buFont typeface="Wingdings" panose="05000000000000000000" pitchFamily="2" charset="2"/>
              <a:buChar char="v"/>
            </a:pPr>
            <a:r>
              <a:rPr lang="en-US" sz="1000" b="1" dirty="0"/>
              <a:t>SKU198 generates the highest profit, while SKU43 and SKU267 are the least profitable, highlighting opportunities for improvement.</a:t>
            </a:r>
          </a:p>
        </p:txBody>
      </p:sp>
    </p:spTree>
    <p:extLst>
      <p:ext uri="{BB962C8B-B14F-4D97-AF65-F5344CB8AC3E}">
        <p14:creationId xmlns:p14="http://schemas.microsoft.com/office/powerpoint/2010/main" val="3900753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134AA-8C1B-7E62-EE4D-E462B7ADE50E}"/>
              </a:ext>
            </a:extLst>
          </p:cNvPr>
          <p:cNvSpPr>
            <a:spLocks noGrp="1"/>
          </p:cNvSpPr>
          <p:nvPr>
            <p:ph type="title"/>
          </p:nvPr>
        </p:nvSpPr>
        <p:spPr/>
        <p:txBody>
          <a:bodyPr/>
          <a:lstStyle/>
          <a:p>
            <a:r>
              <a:rPr lang="en-US" dirty="0"/>
              <a:t>Shipping Cost and Transportation Delays</a:t>
            </a:r>
          </a:p>
        </p:txBody>
      </p:sp>
      <p:graphicFrame>
        <p:nvGraphicFramePr>
          <p:cNvPr id="9" name="Content Placeholder 8">
            <a:extLst>
              <a:ext uri="{FF2B5EF4-FFF2-40B4-BE49-F238E27FC236}">
                <a16:creationId xmlns:a16="http://schemas.microsoft.com/office/drawing/2014/main" id="{7C6CD59F-3DA3-4941-B3BA-E89A81452261}"/>
              </a:ext>
            </a:extLst>
          </p:cNvPr>
          <p:cNvGraphicFramePr>
            <a:graphicFrameLocks noGrp="1"/>
          </p:cNvGraphicFramePr>
          <p:nvPr>
            <p:ph idx="1"/>
            <p:extLst>
              <p:ext uri="{D42A27DB-BD31-4B8C-83A1-F6EECF244321}">
                <p14:modId xmlns:p14="http://schemas.microsoft.com/office/powerpoint/2010/main" val="690592277"/>
              </p:ext>
            </p:extLst>
          </p:nvPr>
        </p:nvGraphicFramePr>
        <p:xfrm>
          <a:off x="200025" y="1825625"/>
          <a:ext cx="5895975" cy="43513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7C3F848B-D818-4BC5-A5DF-80CCF3C35F66}"/>
              </a:ext>
            </a:extLst>
          </p:cNvPr>
          <p:cNvGraphicFramePr>
            <a:graphicFrameLocks/>
          </p:cNvGraphicFramePr>
          <p:nvPr>
            <p:extLst>
              <p:ext uri="{D42A27DB-BD31-4B8C-83A1-F6EECF244321}">
                <p14:modId xmlns:p14="http://schemas.microsoft.com/office/powerpoint/2010/main" val="1096376482"/>
              </p:ext>
            </p:extLst>
          </p:nvPr>
        </p:nvGraphicFramePr>
        <p:xfrm>
          <a:off x="6298957" y="1895476"/>
          <a:ext cx="5693018" cy="41338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51393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E498-E85B-5A57-5A27-200177FCD0D1}"/>
              </a:ext>
            </a:extLst>
          </p:cNvPr>
          <p:cNvSpPr>
            <a:spLocks noGrp="1"/>
          </p:cNvSpPr>
          <p:nvPr>
            <p:ph type="title"/>
          </p:nvPr>
        </p:nvSpPr>
        <p:spPr/>
        <p:txBody>
          <a:bodyPr/>
          <a:lstStyle/>
          <a:p>
            <a:r>
              <a:rPr lang="en-US" dirty="0"/>
              <a:t>High Defect Rates</a:t>
            </a:r>
          </a:p>
        </p:txBody>
      </p:sp>
      <p:graphicFrame>
        <p:nvGraphicFramePr>
          <p:cNvPr id="4" name="Content Placeholder 3">
            <a:extLst>
              <a:ext uri="{FF2B5EF4-FFF2-40B4-BE49-F238E27FC236}">
                <a16:creationId xmlns:a16="http://schemas.microsoft.com/office/drawing/2014/main" id="{F34BC104-B149-4C82-BECB-B1AC325EF6A5}"/>
              </a:ext>
            </a:extLst>
          </p:cNvPr>
          <p:cNvGraphicFramePr>
            <a:graphicFrameLocks noGrp="1"/>
          </p:cNvGraphicFramePr>
          <p:nvPr>
            <p:ph idx="1"/>
            <p:extLst>
              <p:ext uri="{D42A27DB-BD31-4B8C-83A1-F6EECF244321}">
                <p14:modId xmlns:p14="http://schemas.microsoft.com/office/powerpoint/2010/main" val="4249007107"/>
              </p:ext>
            </p:extLst>
          </p:nvPr>
        </p:nvGraphicFramePr>
        <p:xfrm>
          <a:off x="561975" y="1422400"/>
          <a:ext cx="11264265" cy="50704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42339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7AA3-47F5-0417-43CE-4B022C80C85F}"/>
              </a:ext>
            </a:extLst>
          </p:cNvPr>
          <p:cNvSpPr>
            <a:spLocks noGrp="1"/>
          </p:cNvSpPr>
          <p:nvPr>
            <p:ph type="title"/>
          </p:nvPr>
        </p:nvSpPr>
        <p:spPr/>
        <p:txBody>
          <a:bodyPr/>
          <a:lstStyle/>
          <a:p>
            <a:r>
              <a:rPr lang="en-US" dirty="0"/>
              <a:t>Profitability by Products</a:t>
            </a:r>
          </a:p>
        </p:txBody>
      </p:sp>
      <p:graphicFrame>
        <p:nvGraphicFramePr>
          <p:cNvPr id="4" name="Content Placeholder 3">
            <a:extLst>
              <a:ext uri="{FF2B5EF4-FFF2-40B4-BE49-F238E27FC236}">
                <a16:creationId xmlns:a16="http://schemas.microsoft.com/office/drawing/2014/main" id="{484BD490-1AEA-4FE2-8B1C-A4B7AFEF5D23}"/>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42849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C1943-072C-29FC-F6DD-F575E39D780A}"/>
              </a:ext>
            </a:extLst>
          </p:cNvPr>
          <p:cNvSpPr>
            <a:spLocks noGrp="1"/>
          </p:cNvSpPr>
          <p:nvPr>
            <p:ph type="title"/>
          </p:nvPr>
        </p:nvSpPr>
        <p:spPr/>
        <p:txBody>
          <a:bodyPr/>
          <a:lstStyle/>
          <a:p>
            <a:r>
              <a:rPr lang="en-US" dirty="0"/>
              <a:t>Profitability by Products in descending order</a:t>
            </a:r>
          </a:p>
        </p:txBody>
      </p:sp>
      <p:graphicFrame>
        <p:nvGraphicFramePr>
          <p:cNvPr id="4" name="Content Placeholder 3">
            <a:extLst>
              <a:ext uri="{FF2B5EF4-FFF2-40B4-BE49-F238E27FC236}">
                <a16:creationId xmlns:a16="http://schemas.microsoft.com/office/drawing/2014/main" id="{8409395B-8610-4922-A60B-A5CA68D50358}"/>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01863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028A-0232-4431-9281-88202C39A589}"/>
              </a:ext>
            </a:extLst>
          </p:cNvPr>
          <p:cNvSpPr>
            <a:spLocks noGrp="1"/>
          </p:cNvSpPr>
          <p:nvPr>
            <p:ph type="title"/>
          </p:nvPr>
        </p:nvSpPr>
        <p:spPr/>
        <p:txBody>
          <a:bodyPr/>
          <a:lstStyle/>
          <a:p>
            <a:r>
              <a:rPr lang="en-US" dirty="0"/>
              <a:t>Correlation between shipping cost and Transportation mode</a:t>
            </a:r>
          </a:p>
        </p:txBody>
      </p:sp>
      <p:graphicFrame>
        <p:nvGraphicFramePr>
          <p:cNvPr id="4" name="Content Placeholder 3">
            <a:extLst>
              <a:ext uri="{FF2B5EF4-FFF2-40B4-BE49-F238E27FC236}">
                <a16:creationId xmlns:a16="http://schemas.microsoft.com/office/drawing/2014/main" id="{A4049236-B428-47AD-B833-28C70BF6C345}"/>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79948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1F741-3AF5-EE5C-F7A6-57E4B933D688}"/>
              </a:ext>
            </a:extLst>
          </p:cNvPr>
          <p:cNvSpPr>
            <a:spLocks noGrp="1"/>
          </p:cNvSpPr>
          <p:nvPr>
            <p:ph type="title"/>
          </p:nvPr>
        </p:nvSpPr>
        <p:spPr>
          <a:xfrm>
            <a:off x="441158" y="365126"/>
            <a:ext cx="10912642" cy="773864"/>
          </a:xfrm>
        </p:spPr>
        <p:txBody>
          <a:bodyPr/>
          <a:lstStyle/>
          <a:p>
            <a:pPr algn="just"/>
            <a:r>
              <a:rPr lang="en-US" u="sng" dirty="0"/>
              <a:t>Conclusion</a:t>
            </a:r>
          </a:p>
        </p:txBody>
      </p:sp>
      <p:graphicFrame>
        <p:nvGraphicFramePr>
          <p:cNvPr id="4" name="Content Placeholder 3">
            <a:extLst>
              <a:ext uri="{FF2B5EF4-FFF2-40B4-BE49-F238E27FC236}">
                <a16:creationId xmlns:a16="http://schemas.microsoft.com/office/drawing/2014/main" id="{A3EF5B00-2349-C713-502E-CCA9EE17B900}"/>
              </a:ext>
            </a:extLst>
          </p:cNvPr>
          <p:cNvGraphicFramePr>
            <a:graphicFrameLocks noGrp="1"/>
          </p:cNvGraphicFramePr>
          <p:nvPr>
            <p:ph idx="1"/>
            <p:extLst>
              <p:ext uri="{D42A27DB-BD31-4B8C-83A1-F6EECF244321}">
                <p14:modId xmlns:p14="http://schemas.microsoft.com/office/powerpoint/2010/main" val="2234220638"/>
              </p:ext>
            </p:extLst>
          </p:nvPr>
        </p:nvGraphicFramePr>
        <p:xfrm>
          <a:off x="441158" y="1825625"/>
          <a:ext cx="10912642" cy="32837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7074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4F543275-DA01-FBEE-9CAC-D067B7CB7279}"/>
              </a:ext>
            </a:extLst>
          </p:cNvPr>
          <p:cNvGraphicFramePr/>
          <p:nvPr/>
        </p:nvGraphicFramePr>
        <p:xfrm>
          <a:off x="838200" y="96253"/>
          <a:ext cx="10515600" cy="3930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C52F8F1F-762D-A91E-7F9A-70D3AAAD4A1C}"/>
              </a:ext>
            </a:extLst>
          </p:cNvPr>
          <p:cNvSpPr>
            <a:spLocks noGrp="1"/>
          </p:cNvSpPr>
          <p:nvPr>
            <p:ph idx="1"/>
          </p:nvPr>
        </p:nvSpPr>
        <p:spPr>
          <a:xfrm>
            <a:off x="385011" y="641684"/>
            <a:ext cx="11518231" cy="5309937"/>
          </a:xfrm>
        </p:spPr>
        <p:txBody>
          <a:bodyPr>
            <a:normAutofit fontScale="77500" lnSpcReduction="20000"/>
          </a:bodyPr>
          <a:lstStyle/>
          <a:p>
            <a:pPr marL="0" indent="0">
              <a:buNone/>
            </a:pPr>
            <a:endParaRPr lang="en-US" b="1" dirty="0"/>
          </a:p>
          <a:p>
            <a:pPr marL="0" indent="0">
              <a:buNone/>
            </a:pPr>
            <a:r>
              <a:rPr lang="en-US" b="1" dirty="0"/>
              <a:t>1. Reduce Shipping Costs by </a:t>
            </a:r>
            <a:r>
              <a:rPr lang="en-US" b="1" dirty="0" err="1"/>
              <a:t>Prioritising</a:t>
            </a:r>
            <a:r>
              <a:rPr lang="en-US" b="1" dirty="0"/>
              <a:t> Route C</a:t>
            </a:r>
          </a:p>
          <a:p>
            <a:pPr marL="0" indent="0">
              <a:buNone/>
            </a:pPr>
            <a:r>
              <a:rPr lang="en-US" dirty="0"/>
              <a:t>Finding: Route A has the highest shipping cost, followed by Route B, while Route C has the lowest.</a:t>
            </a:r>
          </a:p>
          <a:p>
            <a:pPr marL="0" indent="0">
              <a:buNone/>
            </a:pPr>
            <a:r>
              <a:rPr lang="en-US" dirty="0"/>
              <a:t>Recommendation: </a:t>
            </a:r>
            <a:r>
              <a:rPr lang="en-US" dirty="0" err="1"/>
              <a:t>Uniquexcel</a:t>
            </a:r>
            <a:r>
              <a:rPr lang="en-US" dirty="0"/>
              <a:t> should consider using Route C instead of Route A for suitable deliveries because Route C has the lowest recorded shipping cost. However, the company should first compare delivery distances, shipment volumes and delivery times to ensure the change actually saves money.</a:t>
            </a:r>
          </a:p>
          <a:p>
            <a:pPr marL="0" indent="0">
              <a:buNone/>
            </a:pPr>
            <a:endParaRPr lang="en-US" dirty="0"/>
          </a:p>
          <a:p>
            <a:pPr marL="0" indent="0">
              <a:buNone/>
            </a:pPr>
            <a:endParaRPr lang="en-US" dirty="0"/>
          </a:p>
          <a:p>
            <a:pPr marL="0" indent="0">
              <a:buNone/>
            </a:pPr>
            <a:r>
              <a:rPr lang="en-US" b="1" dirty="0"/>
              <a:t>2. Reduce Transportation Delays by Reviewing Supplier 3</a:t>
            </a:r>
          </a:p>
          <a:p>
            <a:pPr marL="0" indent="0">
              <a:buNone/>
            </a:pPr>
            <a:r>
              <a:rPr lang="en-US" dirty="0"/>
              <a:t>Finding: Supplier 3 has the highest transportation delays, while Supplier 4 has the lowest.</a:t>
            </a:r>
          </a:p>
          <a:p>
            <a:pPr marL="0" indent="0">
              <a:buNone/>
            </a:pPr>
            <a:r>
              <a:rPr lang="en-US" dirty="0"/>
              <a:t>Recommendation: </a:t>
            </a:r>
            <a:r>
              <a:rPr lang="en-US" dirty="0" err="1"/>
              <a:t>Uniquexcel</a:t>
            </a:r>
            <a:r>
              <a:rPr lang="en-US" dirty="0"/>
              <a:t> should investigate the delays associated with Supplier 3 and learn from the delivery practices of Supplier 4. If Supplier 3 cannot improve, the company should consider shifting suitable orders to Supplier 4, provided it can supply the required products.</a:t>
            </a:r>
          </a:p>
          <a:p>
            <a:endParaRPr lang="en-US" b="1" dirty="0"/>
          </a:p>
        </p:txBody>
      </p:sp>
    </p:spTree>
    <p:extLst>
      <p:ext uri="{BB962C8B-B14F-4D97-AF65-F5344CB8AC3E}">
        <p14:creationId xmlns:p14="http://schemas.microsoft.com/office/powerpoint/2010/main" val="65545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5289EA-1886-87E3-A717-30B049A3C0B6}"/>
              </a:ext>
            </a:extLst>
          </p:cNvPr>
          <p:cNvSpPr>
            <a:spLocks noGrp="1"/>
          </p:cNvSpPr>
          <p:nvPr>
            <p:ph idx="1"/>
          </p:nvPr>
        </p:nvSpPr>
        <p:spPr>
          <a:xfrm>
            <a:off x="168442" y="393032"/>
            <a:ext cx="11734800" cy="6312568"/>
          </a:xfrm>
        </p:spPr>
        <p:txBody>
          <a:bodyPr>
            <a:normAutofit fontScale="70000" lnSpcReduction="20000"/>
          </a:bodyPr>
          <a:lstStyle/>
          <a:p>
            <a:pPr marL="0" indent="0">
              <a:buNone/>
            </a:pPr>
            <a:r>
              <a:rPr lang="en-US" b="1" dirty="0"/>
              <a:t>3. Improve Manufacturing Efficiency by Reviewing Supplier 4</a:t>
            </a:r>
          </a:p>
          <a:p>
            <a:pPr marL="0" indent="0">
              <a:buNone/>
            </a:pPr>
            <a:r>
              <a:rPr lang="en-US" dirty="0"/>
              <a:t>Finding: Supplier 4 has the highest manufacturing lead-time value, while Supplier 2 has the lowest.</a:t>
            </a:r>
          </a:p>
          <a:p>
            <a:pPr marL="0" indent="0">
              <a:buNone/>
            </a:pPr>
            <a:r>
              <a:rPr lang="en-US" dirty="0"/>
              <a:t>Recommendation: </a:t>
            </a:r>
            <a:r>
              <a:rPr lang="en-US" dirty="0" err="1"/>
              <a:t>Uniquexcel</a:t>
            </a:r>
            <a:r>
              <a:rPr lang="en-US" dirty="0"/>
              <a:t> should investigate why Supplier 4 takes longer to manufacture products and consider allocating suitable production orders to Supplier 2, provided it meets quality, capacity and cost requirements.</a:t>
            </a:r>
          </a:p>
          <a:p>
            <a:pPr marL="0" indent="0">
              <a:buNone/>
            </a:pPr>
            <a:endParaRPr lang="en-US" dirty="0"/>
          </a:p>
          <a:p>
            <a:pPr marL="0" indent="0">
              <a:buNone/>
            </a:pPr>
            <a:endParaRPr lang="en-US" dirty="0"/>
          </a:p>
          <a:p>
            <a:pPr marL="0" indent="0">
              <a:buNone/>
            </a:pPr>
            <a:r>
              <a:rPr lang="en-US" b="1" dirty="0"/>
              <a:t>4. Increase Profitability by </a:t>
            </a:r>
            <a:r>
              <a:rPr lang="en-US" b="1" dirty="0" err="1"/>
              <a:t>Prioritising</a:t>
            </a:r>
            <a:r>
              <a:rPr lang="en-US" b="1" dirty="0"/>
              <a:t> High-Performing Products</a:t>
            </a:r>
          </a:p>
          <a:p>
            <a:pPr marL="0" indent="0">
              <a:buNone/>
            </a:pPr>
            <a:r>
              <a:rPr lang="en-US" dirty="0"/>
              <a:t>Finding: Your profitability chart shows that some products generate significantly more profit than others.</a:t>
            </a:r>
          </a:p>
          <a:p>
            <a:pPr marL="0" indent="0">
              <a:buNone/>
            </a:pPr>
            <a:r>
              <a:rPr lang="en-US" dirty="0"/>
              <a:t>Recommendation: </a:t>
            </a:r>
            <a:r>
              <a:rPr lang="en-US" dirty="0" err="1"/>
              <a:t>Uniquexcel</a:t>
            </a:r>
            <a:r>
              <a:rPr lang="en-US" dirty="0"/>
              <a:t> should </a:t>
            </a:r>
            <a:r>
              <a:rPr lang="en-US" dirty="0" err="1"/>
              <a:t>prioritise</a:t>
            </a:r>
            <a:r>
              <a:rPr lang="en-US" dirty="0"/>
              <a:t> high-profit products such as SKU347 and SKU177, while reviewing low-profit products such as SKU61. The company should investigate whether reducing manufacturing or shipping costs could improve the profitability of lower-performing products.</a:t>
            </a:r>
          </a:p>
          <a:p>
            <a:pPr marL="0" indent="0">
              <a:buNone/>
            </a:pPr>
            <a:endParaRPr lang="en-US" dirty="0"/>
          </a:p>
          <a:p>
            <a:pPr marL="0" indent="0">
              <a:buNone/>
            </a:pPr>
            <a:endParaRPr lang="en-US" dirty="0"/>
          </a:p>
          <a:p>
            <a:pPr marL="0" indent="0">
              <a:buNone/>
            </a:pPr>
            <a:r>
              <a:rPr lang="en-US" b="1" dirty="0"/>
              <a:t>5. Improve Transportation Cost Efficiency</a:t>
            </a:r>
          </a:p>
          <a:p>
            <a:pPr marL="0" indent="0">
              <a:buNone/>
            </a:pPr>
            <a:r>
              <a:rPr lang="en-US" dirty="0"/>
              <a:t>Finding: Air accounts for approximately 36% of total shipping costs, Road 33%, and Rail 31%.</a:t>
            </a:r>
          </a:p>
          <a:p>
            <a:pPr marL="0" indent="0">
              <a:buNone/>
            </a:pPr>
            <a:r>
              <a:rPr lang="en-US" dirty="0"/>
              <a:t>Recommendation: </a:t>
            </a:r>
            <a:r>
              <a:rPr lang="en-US" dirty="0" err="1"/>
              <a:t>Uniquexcel</a:t>
            </a:r>
            <a:r>
              <a:rPr lang="en-US" dirty="0"/>
              <a:t> should investigate whether some non-urgent deliveries currently transported by Air can be moved to Rail or Road. The company should compare costs per shipment before making changes, since the chart shows total cost distribution rather than the cost of equivalent deliveries.</a:t>
            </a:r>
          </a:p>
          <a:p>
            <a:endParaRPr lang="en-US" dirty="0"/>
          </a:p>
        </p:txBody>
      </p:sp>
    </p:spTree>
    <p:extLst>
      <p:ext uri="{BB962C8B-B14F-4D97-AF65-F5344CB8AC3E}">
        <p14:creationId xmlns:p14="http://schemas.microsoft.com/office/powerpoint/2010/main" val="3208359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622</Words>
  <Application>Microsoft Office PowerPoint</Application>
  <PresentationFormat>Widescreen</PresentationFormat>
  <Paragraphs>60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Dosis</vt:lpstr>
      <vt:lpstr>Wingdings</vt:lpstr>
      <vt:lpstr>Office Theme</vt:lpstr>
      <vt:lpstr>Optimizing Supply Chain Operations for Uniquexcel Makeup Product line</vt:lpstr>
      <vt:lpstr>Challenges Uniquexcel faces</vt:lpstr>
      <vt:lpstr>Overview and KPI</vt:lpstr>
      <vt:lpstr>Insights</vt:lpstr>
      <vt:lpstr>Shipping Cost and Transportation Delays</vt:lpstr>
      <vt:lpstr>High Defect Rates</vt:lpstr>
      <vt:lpstr>Profitability by Products</vt:lpstr>
      <vt:lpstr>Profitability by Products in descending order</vt:lpstr>
      <vt:lpstr>Correlation between shipping cost and Transportation mode</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Temitope Somoye</dc:creator>
  <cp:lastModifiedBy>Temitope Somoye</cp:lastModifiedBy>
  <cp:revision>1</cp:revision>
  <dcterms:created xsi:type="dcterms:W3CDTF">2026-10-13T09:49:18Z</dcterms:created>
  <dcterms:modified xsi:type="dcterms:W3CDTF">2026-10-17T00:36:11Z</dcterms:modified>
</cp:coreProperties>
</file>